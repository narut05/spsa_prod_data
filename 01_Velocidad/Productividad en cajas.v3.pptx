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6" r:id="rId2"/>
    <p:sldId id="259" r:id="rId3"/>
    <p:sldId id="258" r:id="rId4"/>
    <p:sldId id="260" r:id="rId5"/>
    <p:sldId id="261" r:id="rId6"/>
    <p:sldId id="262" r:id="rId7"/>
    <p:sldId id="270" r:id="rId8"/>
    <p:sldId id="275" r:id="rId9"/>
    <p:sldId id="276" r:id="rId10"/>
    <p:sldId id="267" r:id="rId11"/>
    <p:sldId id="269" r:id="rId12"/>
    <p:sldId id="274" r:id="rId13"/>
    <p:sldId id="272" r:id="rId14"/>
    <p:sldId id="273" r:id="rId15"/>
    <p:sldId id="271" r:id="rId16"/>
  </p:sldIdLst>
  <p:sldSz cx="12192000" cy="6858000"/>
  <p:notesSz cx="6797675" cy="9928225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C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883" autoAdjust="0"/>
  </p:normalViewPr>
  <p:slideViewPr>
    <p:cSldViewPr snapToGrid="0">
      <p:cViewPr varScale="1">
        <p:scale>
          <a:sx n="60" d="100"/>
          <a:sy n="60" d="100"/>
        </p:scale>
        <p:origin x="8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intercorpretail-my.sharepoint.com/personal/rosa_renteria_plazavea_pe/Documents/Documentos/02.Productividad%20Data/Velocidad/Optimus01%20(Autoguardado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intercorpretail-my.sharepoint.com/personal/rosa_renteria_plazavea_pe/Documents/Documentos/02.Productividad%20Data/Velocidad/Optimus01%20(Autoguardado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suarios\SP18202666\Downloads\Productividad%20y%20nivel%20de%20servicio%20en%20caj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Cobertura!$B$5</c:f>
              <c:strCache>
                <c:ptCount val="1"/>
                <c:pt idx="0">
                  <c:v>Efectividad Pronóstico 2026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Cobertura!$A$6:$A$10</c:f>
              <c:strCache>
                <c:ptCount val="5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</c:strCache>
            </c:strRef>
          </c:cat>
          <c:val>
            <c:numRef>
              <c:f>Cobertura!$B$6:$B$10</c:f>
              <c:numCache>
                <c:formatCode>0%</c:formatCode>
                <c:ptCount val="5"/>
                <c:pt idx="0">
                  <c:v>1.1399999999999999</c:v>
                </c:pt>
                <c:pt idx="1">
                  <c:v>1.06</c:v>
                </c:pt>
                <c:pt idx="2">
                  <c:v>1.01</c:v>
                </c:pt>
                <c:pt idx="3">
                  <c:v>0.96</c:v>
                </c:pt>
                <c:pt idx="4">
                  <c:v>1.06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9-4E90-AB24-83DF9DB792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76787535"/>
        <c:axId val="876783375"/>
      </c:barChart>
      <c:lineChart>
        <c:grouping val="standard"/>
        <c:varyColors val="0"/>
        <c:ser>
          <c:idx val="1"/>
          <c:order val="1"/>
          <c:tx>
            <c:strRef>
              <c:f>Cobertura!$C$5</c:f>
              <c:strCache>
                <c:ptCount val="1"/>
                <c:pt idx="0">
                  <c:v>Cobertura Teórica</c:v>
                </c:pt>
              </c:strCache>
            </c:strRef>
          </c:tx>
          <c:spPr>
            <a:ln w="254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75000"/>
                </a:schemeClr>
              </a:solidFill>
              <a:ln w="9525"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9.0844017668523167E-2"/>
                  <c:y val="-2.5786370944470118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DE9-4E90-AB24-83DF9DB79257}"/>
                </c:ext>
              </c:extLst>
            </c:dLbl>
            <c:dLbl>
              <c:idx val="2"/>
              <c:layout>
                <c:manualLayout>
                  <c:x val="-8.6941578644132891E-2"/>
                  <c:y val="1.31281691882755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DE9-4E90-AB24-83DF9DB79257}"/>
                </c:ext>
              </c:extLst>
            </c:dLbl>
            <c:dLbl>
              <c:idx val="3"/>
              <c:layout>
                <c:manualLayout>
                  <c:x val="-6.2980603034376803E-2"/>
                  <c:y val="7.8925670940347119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DE9-4E90-AB24-83DF9DB79257}"/>
                </c:ext>
              </c:extLst>
            </c:dLbl>
            <c:dLbl>
              <c:idx val="4"/>
              <c:layout>
                <c:manualLayout>
                  <c:x val="-7.6639139619742655E-2"/>
                  <c:y val="3.40705775652388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DE9-4E90-AB24-83DF9DB7925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Cobertura!$A$6:$A$10</c:f>
              <c:strCache>
                <c:ptCount val="5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</c:strCache>
            </c:strRef>
          </c:cat>
          <c:val>
            <c:numRef>
              <c:f>Cobertura!$C$6:$C$10</c:f>
              <c:numCache>
                <c:formatCode>0%</c:formatCode>
                <c:ptCount val="5"/>
                <c:pt idx="0">
                  <c:v>1.04</c:v>
                </c:pt>
                <c:pt idx="1">
                  <c:v>1.1000000000000001</c:v>
                </c:pt>
                <c:pt idx="2">
                  <c:v>1.02</c:v>
                </c:pt>
                <c:pt idx="3">
                  <c:v>0.91</c:v>
                </c:pt>
                <c:pt idx="4">
                  <c:v>0.88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DE9-4E90-AB24-83DF9DB79257}"/>
            </c:ext>
          </c:extLst>
        </c:ser>
        <c:ser>
          <c:idx val="2"/>
          <c:order val="2"/>
          <c:tx>
            <c:strRef>
              <c:f>Cobertura!$D$5</c:f>
              <c:strCache>
                <c:ptCount val="1"/>
                <c:pt idx="0">
                  <c:v>Cobertura Ácida</c:v>
                </c:pt>
              </c:strCache>
            </c:strRef>
          </c:tx>
          <c:spPr>
            <a:ln w="2540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7.5234261570962163E-2"/>
                  <c:y val="4.454178175372052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DE9-4E90-AB24-83DF9DB79257}"/>
                </c:ext>
              </c:extLst>
            </c:dLbl>
            <c:dLbl>
              <c:idx val="4"/>
              <c:layout>
                <c:manualLayout>
                  <c:x val="-8.0541578644132902E-2"/>
                  <c:y val="-5.49346580368553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DE9-4E90-AB24-83DF9DB7925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Cobertura!$A$6:$A$10</c:f>
              <c:strCache>
                <c:ptCount val="5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Mayo</c:v>
                </c:pt>
              </c:strCache>
            </c:strRef>
          </c:cat>
          <c:val>
            <c:numRef>
              <c:f>Cobertura!$D$6:$D$10</c:f>
              <c:numCache>
                <c:formatCode>0%</c:formatCode>
                <c:ptCount val="5"/>
                <c:pt idx="0">
                  <c:v>1.1200000000000001</c:v>
                </c:pt>
                <c:pt idx="1">
                  <c:v>1.0900000000000001</c:v>
                </c:pt>
                <c:pt idx="2">
                  <c:v>1.07</c:v>
                </c:pt>
                <c:pt idx="3">
                  <c:v>0.94</c:v>
                </c:pt>
                <c:pt idx="4">
                  <c:v>0.98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8DE9-4E90-AB24-83DF9DB792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6787535"/>
        <c:axId val="876783375"/>
      </c:lineChart>
      <c:catAx>
        <c:axId val="8767875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76783375"/>
        <c:crosses val="autoZero"/>
        <c:auto val="1"/>
        <c:lblAlgn val="ctr"/>
        <c:lblOffset val="100"/>
        <c:noMultiLvlLbl val="0"/>
      </c:catAx>
      <c:valAx>
        <c:axId val="876783375"/>
        <c:scaling>
          <c:orientation val="minMax"/>
          <c:min val="0.70000000000000007"/>
        </c:scaling>
        <c:delete val="0"/>
        <c:axPos val="l"/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767875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099679760022698E-2"/>
          <c:y val="0.12083046455265066"/>
          <c:w val="0.90970799653595524"/>
          <c:h val="0.63250016376904639"/>
        </c:manualLayout>
      </c:layout>
      <c:lineChart>
        <c:grouping val="standard"/>
        <c:varyColors val="0"/>
        <c:ser>
          <c:idx val="0"/>
          <c:order val="0"/>
          <c:tx>
            <c:strRef>
              <c:f>Productividad26!$E$3</c:f>
              <c:strCache>
                <c:ptCount val="1"/>
                <c:pt idx="0">
                  <c:v>2026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Productividad26!$A$4:$A$15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Productividad26!$J$4:$J$15</c:f>
              <c:numCache>
                <c:formatCode>0</c:formatCode>
                <c:ptCount val="12"/>
                <c:pt idx="0">
                  <c:v>250.15199999999999</c:v>
                </c:pt>
                <c:pt idx="1">
                  <c:v>255.22800000000001</c:v>
                </c:pt>
                <c:pt idx="2">
                  <c:v>305.024</c:v>
                </c:pt>
                <c:pt idx="3">
                  <c:v>270.24</c:v>
                </c:pt>
                <c:pt idx="4">
                  <c:v>282.72399999999999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241-42CC-BC91-247B580CBEED}"/>
            </c:ext>
          </c:extLst>
        </c:ser>
        <c:ser>
          <c:idx val="1"/>
          <c:order val="1"/>
          <c:tx>
            <c:strRef>
              <c:f>Productividad26!$F$3</c:f>
              <c:strCache>
                <c:ptCount val="1"/>
                <c:pt idx="0">
                  <c:v>2025</c:v>
                </c:pt>
              </c:strCache>
            </c:strRef>
          </c:tx>
          <c:spPr>
            <a:ln w="22225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6859711468734938E-2"/>
                  <c:y val="3.5119031159058169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241-42CC-BC91-247B580CBEED}"/>
                </c:ext>
              </c:extLst>
            </c:dLbl>
            <c:dLbl>
              <c:idx val="1"/>
              <c:layout>
                <c:manualLayout>
                  <c:x val="-2.3978992978141708E-2"/>
                  <c:y val="3.922617209122043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241-42CC-BC91-247B580CBEED}"/>
                </c:ext>
              </c:extLst>
            </c:dLbl>
            <c:dLbl>
              <c:idx val="2"/>
              <c:layout>
                <c:manualLayout>
                  <c:x val="-2.6132879045996593E-2"/>
                  <c:y val="7.65888872875915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241-42CC-BC91-247B580CBEED}"/>
                </c:ext>
              </c:extLst>
            </c:dLbl>
            <c:dLbl>
              <c:idx val="3"/>
              <c:layout>
                <c:manualLayout>
                  <c:x val="-2.6132879045996593E-2"/>
                  <c:y val="5.66221651578078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241-42CC-BC91-247B580CBEED}"/>
                </c:ext>
              </c:extLst>
            </c:dLbl>
            <c:dLbl>
              <c:idx val="4"/>
              <c:layout>
                <c:manualLayout>
                  <c:x val="-2.9540034071550255E-2"/>
                  <c:y val="4.99665911145466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241-42CC-BC91-247B580CBE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Productividad26!$A$4:$A$15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Productividad26!$K$4:$K$15</c:f>
              <c:numCache>
                <c:formatCode>0</c:formatCode>
                <c:ptCount val="12"/>
                <c:pt idx="0">
                  <c:v>247.64400000000001</c:v>
                </c:pt>
                <c:pt idx="1">
                  <c:v>237.09700000000001</c:v>
                </c:pt>
                <c:pt idx="2">
                  <c:v>293.30399999999997</c:v>
                </c:pt>
                <c:pt idx="3">
                  <c:v>250.75399999999999</c:v>
                </c:pt>
                <c:pt idx="4">
                  <c:v>257.61700000000002</c:v>
                </c:pt>
                <c:pt idx="5">
                  <c:v>241.18199999999999</c:v>
                </c:pt>
                <c:pt idx="6">
                  <c:v>254.995</c:v>
                </c:pt>
                <c:pt idx="7">
                  <c:v>266.32299999999998</c:v>
                </c:pt>
                <c:pt idx="8">
                  <c:v>246.54499999999999</c:v>
                </c:pt>
                <c:pt idx="9">
                  <c:v>252.73</c:v>
                </c:pt>
                <c:pt idx="10">
                  <c:v>267.86599999999999</c:v>
                </c:pt>
                <c:pt idx="11">
                  <c:v>304.80200000000002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241-42CC-BC91-247B580CBE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7287855"/>
        <c:axId val="897288687"/>
      </c:lineChart>
      <c:lineChart>
        <c:grouping val="standard"/>
        <c:varyColors val="0"/>
        <c:ser>
          <c:idx val="2"/>
          <c:order val="2"/>
          <c:tx>
            <c:strRef>
              <c:f>Productividad26!$L$3</c:f>
              <c:strCache>
                <c:ptCount val="1"/>
                <c:pt idx="0">
                  <c:v>var 26 vs25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4"/>
            <c:spPr>
              <a:solidFill>
                <a:schemeClr val="bg1">
                  <a:lumMod val="75000"/>
                </a:schemeClr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Productividad26!$A$4:$A$15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Productividad26!$L$4:$L$8</c:f>
              <c:numCache>
                <c:formatCode>0.0%</c:formatCode>
                <c:ptCount val="5"/>
                <c:pt idx="0">
                  <c:v>1.0127441004021742E-2</c:v>
                </c:pt>
                <c:pt idx="1">
                  <c:v>7.6470811524397275E-2</c:v>
                </c:pt>
                <c:pt idx="2">
                  <c:v>3.9958541308676487E-2</c:v>
                </c:pt>
                <c:pt idx="3">
                  <c:v>7.7709627762667877E-2</c:v>
                </c:pt>
                <c:pt idx="4">
                  <c:v>9.7458630447524675E-2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241-42CC-BC91-247B580CBE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7776575"/>
        <c:axId val="897775327"/>
      </c:lineChart>
      <c:catAx>
        <c:axId val="897287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97288687"/>
        <c:crosses val="autoZero"/>
        <c:auto val="1"/>
        <c:lblAlgn val="ctr"/>
        <c:lblOffset val="100"/>
        <c:noMultiLvlLbl val="0"/>
      </c:catAx>
      <c:valAx>
        <c:axId val="897288687"/>
        <c:scaling>
          <c:orientation val="minMax"/>
          <c:max val="380"/>
          <c:min val="200"/>
        </c:scaling>
        <c:delete val="0"/>
        <c:axPos val="l"/>
        <c:numFmt formatCode="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97287855"/>
        <c:crosses val="autoZero"/>
        <c:crossBetween val="between"/>
      </c:valAx>
      <c:valAx>
        <c:axId val="897775327"/>
        <c:scaling>
          <c:orientation val="minMax"/>
          <c:max val="0.15000000000000002"/>
          <c:min val="-0.4"/>
        </c:scaling>
        <c:delete val="0"/>
        <c:axPos val="r"/>
        <c:numFmt formatCode="0.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97776575"/>
        <c:crosses val="max"/>
        <c:crossBetween val="between"/>
      </c:valAx>
      <c:catAx>
        <c:axId val="8977765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977753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9381596582342108E-2"/>
          <c:y val="0.87156267737032356"/>
          <c:w val="0.69436800071888305"/>
          <c:h val="0.112313598071455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050"/>
      </a:pPr>
      <a:endParaRPr lang="es-P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049725359221206E-2"/>
          <c:y val="6.8126546784890621E-2"/>
          <c:w val="0.97790054928155756"/>
          <c:h val="0.66985053906060499"/>
        </c:manualLayout>
      </c:layout>
      <c:lineChart>
        <c:grouping val="standard"/>
        <c:varyColors val="0"/>
        <c:ser>
          <c:idx val="1"/>
          <c:order val="0"/>
          <c:tx>
            <c:strRef>
              <c:f>Velocidad!$C$3</c:f>
              <c:strCache>
                <c:ptCount val="1"/>
                <c:pt idx="0">
                  <c:v>2025</c:v>
                </c:pt>
              </c:strCache>
            </c:strRef>
          </c:tx>
          <c:spPr>
            <a:ln w="25400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1">
                  <a:lumMod val="40000"/>
                  <a:lumOff val="60000"/>
                </a:schemeClr>
              </a:solidFill>
              <a:ln w="9525">
                <a:solidFill>
                  <a:schemeClr val="accent1">
                    <a:lumMod val="40000"/>
                    <a:lumOff val="60000"/>
                  </a:schemeClr>
                </a:solidFill>
                <a:round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dLbl>
              <c:idx val="2"/>
              <c:layout>
                <c:manualLayout>
                  <c:x val="-5.5248626796106032E-3"/>
                  <c:y val="-1.94647276528258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3CE-4AD8-9A95-BBA843651E69}"/>
                </c:ext>
              </c:extLst>
            </c:dLbl>
            <c:dLbl>
              <c:idx val="3"/>
              <c:layout>
                <c:manualLayout>
                  <c:x val="-2.5782692504849516E-2"/>
                  <c:y val="4.37956372188582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3CE-4AD8-9A95-BBA843651E69}"/>
                </c:ext>
              </c:extLst>
            </c:dLbl>
            <c:dLbl>
              <c:idx val="4"/>
              <c:layout>
                <c:manualLayout>
                  <c:x val="-3.3149176077663621E-2"/>
                  <c:y val="4.37956372188582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3CE-4AD8-9A95-BBA843651E69}"/>
                </c:ext>
              </c:extLst>
            </c:dLbl>
            <c:dLbl>
              <c:idx val="5"/>
              <c:layout>
                <c:manualLayout>
                  <c:x val="-2.9465934291256549E-2"/>
                  <c:y val="5.35280010452712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3CE-4AD8-9A95-BBA843651E69}"/>
                </c:ext>
              </c:extLst>
            </c:dLbl>
            <c:dLbl>
              <c:idx val="6"/>
              <c:layout>
                <c:manualLayout>
                  <c:x val="-1.6574588038831876E-2"/>
                  <c:y val="5.83941829584776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3CE-4AD8-9A95-BBA843651E69}"/>
                </c:ext>
              </c:extLst>
            </c:dLbl>
            <c:dLbl>
              <c:idx val="7"/>
              <c:layout>
                <c:manualLayout>
                  <c:x val="-2.7624313398053015E-2"/>
                  <c:y val="6.81265467848906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3CE-4AD8-9A95-BBA843651E69}"/>
                </c:ext>
              </c:extLst>
            </c:dLbl>
            <c:dLbl>
              <c:idx val="8"/>
              <c:layout>
                <c:manualLayout>
                  <c:x val="-2.2099450718442413E-2"/>
                  <c:y val="4.37956372188581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3CE-4AD8-9A95-BBA843651E69}"/>
                </c:ext>
              </c:extLst>
            </c:dLbl>
            <c:dLbl>
              <c:idx val="9"/>
              <c:layout>
                <c:manualLayout>
                  <c:x val="-2.9465934291256549E-2"/>
                  <c:y val="-5.35280010452712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D3CE-4AD8-9A95-BBA843651E69}"/>
                </c:ext>
              </c:extLst>
            </c:dLbl>
            <c:dLbl>
              <c:idx val="10"/>
              <c:layout>
                <c:manualLayout>
                  <c:x val="-2.7624313398053015E-2"/>
                  <c:y val="-5.83941829584777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3CE-4AD8-9A95-BBA843651E69}"/>
                </c:ext>
              </c:extLst>
            </c:dLbl>
            <c:dLbl>
              <c:idx val="11"/>
              <c:layout>
                <c:manualLayout>
                  <c:x val="-2.5782692504849481E-2"/>
                  <c:y val="-4.86618191320647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3CE-4AD8-9A95-BBA843651E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Velocidad!$A$4:$A$15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Velocidad!$C$4:$C$15</c:f>
              <c:numCache>
                <c:formatCode>0.0</c:formatCode>
                <c:ptCount val="12"/>
                <c:pt idx="0">
                  <c:v>12.14</c:v>
                </c:pt>
                <c:pt idx="1">
                  <c:v>12.28</c:v>
                </c:pt>
                <c:pt idx="2">
                  <c:v>12.59</c:v>
                </c:pt>
                <c:pt idx="3">
                  <c:v>12.45</c:v>
                </c:pt>
                <c:pt idx="4">
                  <c:v>12.49</c:v>
                </c:pt>
                <c:pt idx="5">
                  <c:v>12.21</c:v>
                </c:pt>
                <c:pt idx="6">
                  <c:v>12.71</c:v>
                </c:pt>
                <c:pt idx="7">
                  <c:v>12.66</c:v>
                </c:pt>
                <c:pt idx="8">
                  <c:v>12.74</c:v>
                </c:pt>
                <c:pt idx="9">
                  <c:v>12.96</c:v>
                </c:pt>
                <c:pt idx="10">
                  <c:v>12.88</c:v>
                </c:pt>
                <c:pt idx="11">
                  <c:v>12.67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2-D3CE-4AD8-9A95-BBA843651E69}"/>
            </c:ext>
          </c:extLst>
        </c:ser>
        <c:ser>
          <c:idx val="2"/>
          <c:order val="1"/>
          <c:tx>
            <c:strRef>
              <c:f>Velocidad!$D$3</c:f>
              <c:strCache>
                <c:ptCount val="1"/>
                <c:pt idx="0">
                  <c:v>2026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rgbClr val="FF0000"/>
                </a:solidFill>
                <a:round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dLbl>
              <c:idx val="0"/>
              <c:layout>
                <c:manualLayout>
                  <c:x val="-3.6022104671061136E-2"/>
                  <c:y val="2.68004010960020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D3CE-4AD8-9A95-BBA843651E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Velocidad!$A$4:$A$15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Velocidad!$D$4:$D$15</c:f>
              <c:numCache>
                <c:formatCode>_-* #,##0.0_-;\-* #,##0.0_-;_-* "-"??_-;_-@_-</c:formatCode>
                <c:ptCount val="12"/>
                <c:pt idx="0">
                  <c:v>11.75</c:v>
                </c:pt>
                <c:pt idx="1">
                  <c:v>12.39</c:v>
                </c:pt>
                <c:pt idx="2">
                  <c:v>12.96</c:v>
                </c:pt>
                <c:pt idx="3">
                  <c:v>13.11</c:v>
                </c:pt>
                <c:pt idx="4">
                  <c:v>13.17</c:v>
                </c:pt>
                <c:pt idx="5">
                  <c:v>13.25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4-D3CE-4AD8-9A95-BBA843651E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4013407"/>
        <c:axId val="524010911"/>
      </c:lineChart>
      <c:lineChart>
        <c:grouping val="standard"/>
        <c:varyColors val="0"/>
        <c:ser>
          <c:idx val="4"/>
          <c:order val="2"/>
          <c:tx>
            <c:strRef>
              <c:f>Velocidad!$F$3</c:f>
              <c:strCache>
                <c:ptCount val="1"/>
                <c:pt idx="0">
                  <c:v>var 26 vs 25</c:v>
                </c:pt>
              </c:strCache>
            </c:strRef>
          </c:tx>
          <c:spPr>
            <a:ln w="34925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accent2">
                    <a:lumMod val="40000"/>
                    <a:lumOff val="60000"/>
                  </a:schemeClr>
                </a:solidFill>
                <a:round/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Velocidad!$A$4:$A$15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Velocidad!$F$4:$F$15</c:f>
              <c:numCache>
                <c:formatCode>0%</c:formatCode>
                <c:ptCount val="12"/>
                <c:pt idx="0">
                  <c:v>-3.2125205930807255E-2</c:v>
                </c:pt>
                <c:pt idx="1">
                  <c:v>8.9576547231271508E-3</c:v>
                </c:pt>
                <c:pt idx="2">
                  <c:v>2.938840349483729E-2</c:v>
                </c:pt>
                <c:pt idx="3">
                  <c:v>5.3012048192771166E-2</c:v>
                </c:pt>
                <c:pt idx="4">
                  <c:v>5.4443554843875086E-2</c:v>
                </c:pt>
                <c:pt idx="5">
                  <c:v>8.5176085176084992E-2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5-D3CE-4AD8-9A95-BBA843651E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8156191"/>
        <c:axId val="898155359"/>
      </c:lineChart>
      <c:catAx>
        <c:axId val="524013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524010911"/>
        <c:crosses val="autoZero"/>
        <c:auto val="1"/>
        <c:lblAlgn val="ctr"/>
        <c:lblOffset val="100"/>
        <c:noMultiLvlLbl val="0"/>
      </c:catAx>
      <c:valAx>
        <c:axId val="524010911"/>
        <c:scaling>
          <c:orientation val="minMax"/>
          <c:max val="16"/>
          <c:min val="11"/>
        </c:scaling>
        <c:delete val="0"/>
        <c:axPos val="l"/>
        <c:numFmt formatCode="0.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524013407"/>
        <c:crosses val="autoZero"/>
        <c:crossBetween val="between"/>
        <c:majorUnit val="0.70000000000000007"/>
      </c:valAx>
      <c:valAx>
        <c:axId val="898155359"/>
        <c:scaling>
          <c:orientation val="minMax"/>
          <c:max val="0.11000000000000001"/>
          <c:min val="-0.4"/>
        </c:scaling>
        <c:delete val="0"/>
        <c:axPos val="r"/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898156191"/>
        <c:crosses val="max"/>
        <c:crossBetween val="between"/>
      </c:valAx>
      <c:catAx>
        <c:axId val="898156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9815535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C213B-C52A-4983-A30A-17A637C3624C}" type="datetimeFigureOut">
              <a:rPr lang="es-PE" smtClean="0"/>
              <a:t>17/06/2026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41D71-C899-4BC9-B2E1-33BA1509A5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2638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41D71-C899-4BC9-B2E1-33BA1509A51C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6921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41D71-C899-4BC9-B2E1-33BA1509A51C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63213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741D71-C899-4BC9-B2E1-33BA1509A51C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9926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17/06/2026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9226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17/06/2026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4305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61" b="15025"/>
          <a:stretch/>
        </p:blipFill>
        <p:spPr bwMode="auto">
          <a:xfrm>
            <a:off x="0" y="0"/>
            <a:ext cx="122010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n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4"/>
          <a:stretch/>
        </p:blipFill>
        <p:spPr bwMode="auto">
          <a:xfrm>
            <a:off x="0" y="7920"/>
            <a:ext cx="8349930" cy="685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46E823-B14A-4E68-B118-82674AE7FFF8}" type="datetimeFigureOut">
              <a:rPr kumimoji="0" lang="es-ES_tradnl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17/06/2026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EF94D0-D5BF-47D5-ABA6-DFC6FA314966}" type="slidenum">
              <a:rPr kumimoji="0" lang="es-ES_tradnl" altLang="es-PE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_tradnl" altLang="es-PE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882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17/06/2026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2361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17/06/2026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312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17/06/2026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5995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17/06/2026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49029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17/06/2026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7322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17/06/2026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18981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17/06/2026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6145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17/06/2026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7640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22E51-1094-400D-A6D7-182F0E038403}" type="datetimeFigureOut">
              <a:rPr lang="es-PE" smtClean="0"/>
              <a:t>17/06/2026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88365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22E51-1094-400D-A6D7-182F0E038403}" type="datetimeFigureOut">
              <a:rPr lang="es-PE" smtClean="0"/>
              <a:t>17/06/2026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C9E9A-F1D4-4227-8894-5132683E32F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2760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emf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34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image" Target="../media/image3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32.png"/><Relationship Id="rId5" Type="http://schemas.microsoft.com/office/2007/relationships/media" Target="../media/media3.mp4"/><Relationship Id="rId10" Type="http://schemas.openxmlformats.org/officeDocument/2006/relationships/image" Target="../media/image31.jpeg"/><Relationship Id="rId4" Type="http://schemas.openxmlformats.org/officeDocument/2006/relationships/video" Target="../media/media2.mp4"/><Relationship Id="rId9" Type="http://schemas.openxmlformats.org/officeDocument/2006/relationships/slideLayout" Target="../slideLayouts/slideLayout8.xml"/><Relationship Id="rId1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1CFC1-D247-C693-E122-809AF417B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D23916C2-8E7C-3C9D-2FD4-9E6D1570E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38" y="2232464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PE" sz="9600" b="1" dirty="0">
                <a:solidFill>
                  <a:schemeClr val="bg1"/>
                </a:solidFill>
                <a:latin typeface="Arial Black"/>
              </a:rPr>
              <a:t> </a:t>
            </a:r>
            <a:r>
              <a:rPr lang="es-PE" sz="9600" b="1" dirty="0">
                <a:latin typeface="Arial Black" panose="020B0A04020102020204" pitchFamily="34" charset="0"/>
              </a:rPr>
              <a:t/>
            </a:r>
            <a:br>
              <a:rPr lang="es-PE" sz="9600" b="1" dirty="0">
                <a:latin typeface="Arial Black" panose="020B0A04020102020204" pitchFamily="34" charset="0"/>
              </a:rPr>
            </a:br>
            <a:r>
              <a:rPr lang="es-PE" sz="9600" b="1" dirty="0">
                <a:latin typeface="Arial Black" panose="020B0A04020102020204" pitchFamily="34" charset="0"/>
              </a:rPr>
              <a:t/>
            </a:r>
            <a:br>
              <a:rPr lang="es-PE" sz="9600" b="1" dirty="0">
                <a:latin typeface="Arial Black" panose="020B0A04020102020204" pitchFamily="34" charset="0"/>
              </a:rPr>
            </a:br>
            <a:r>
              <a:rPr lang="es-PE" sz="7200" b="1" dirty="0" smtClean="0">
                <a:solidFill>
                  <a:schemeClr val="bg1"/>
                </a:solidFill>
                <a:latin typeface="Arial Black"/>
              </a:rPr>
              <a:t>Productividad en Caja</a:t>
            </a:r>
            <a:r>
              <a:rPr lang="es-PE" sz="7200" b="1" dirty="0"/>
              <a:t/>
            </a:r>
            <a:br>
              <a:rPr lang="es-PE" sz="7200" b="1" dirty="0"/>
            </a:br>
            <a:endParaRPr lang="es-PE" sz="7200" b="1" dirty="0">
              <a:solidFill>
                <a:schemeClr val="bg1"/>
              </a:solidFill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E8A91A2D-D9C3-BE67-8BAB-20A409B97CDC}"/>
              </a:ext>
            </a:extLst>
          </p:cNvPr>
          <p:cNvGrpSpPr/>
          <p:nvPr/>
        </p:nvGrpSpPr>
        <p:grpSpPr>
          <a:xfrm>
            <a:off x="10555663" y="242499"/>
            <a:ext cx="1434718" cy="553375"/>
            <a:chOff x="5368286" y="5906706"/>
            <a:chExt cx="2381250" cy="951293"/>
          </a:xfrm>
        </p:grpSpPr>
        <p:pic>
          <p:nvPicPr>
            <p:cNvPr id="5" name="Picture 4" descr="Vivanda/Logos variantes | Logopedia | Fandom">
              <a:extLst>
                <a:ext uri="{FF2B5EF4-FFF2-40B4-BE49-F238E27FC236}">
                  <a16:creationId xmlns:a16="http://schemas.microsoft.com/office/drawing/2014/main" id="{41E2CC45-9B29-67FB-2775-938414DE49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8286" y="5906706"/>
              <a:ext cx="2381250" cy="951293"/>
            </a:xfrm>
            <a:prstGeom prst="round2SameRect">
              <a:avLst>
                <a:gd name="adj1" fmla="val 28862"/>
                <a:gd name="adj2" fmla="val 0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EA184C99-1A58-D4B5-AE6F-11DFC35E60D7}"/>
                </a:ext>
              </a:extLst>
            </p:cNvPr>
            <p:cNvSpPr/>
            <p:nvPr/>
          </p:nvSpPr>
          <p:spPr>
            <a:xfrm>
              <a:off x="5527343" y="6045957"/>
              <a:ext cx="2074460" cy="767317"/>
            </a:xfrm>
            <a:prstGeom prst="rect">
              <a:avLst/>
            </a:prstGeom>
            <a:solidFill>
              <a:srgbClr val="007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7" name="Picture 4" descr="Vivanda/Logos variantes | Logopedia | Fandom">
              <a:extLst>
                <a:ext uri="{FF2B5EF4-FFF2-40B4-BE49-F238E27FC236}">
                  <a16:creationId xmlns:a16="http://schemas.microsoft.com/office/drawing/2014/main" id="{2E477AD2-B6AB-C00A-1A7D-823DFB9BC2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0" r="7389"/>
            <a:stretch/>
          </p:blipFill>
          <p:spPr bwMode="auto">
            <a:xfrm>
              <a:off x="5770139" y="5916940"/>
              <a:ext cx="1577543" cy="906567"/>
            </a:xfrm>
            <a:prstGeom prst="round2SameRect">
              <a:avLst>
                <a:gd name="adj1" fmla="val 28862"/>
                <a:gd name="adj2" fmla="val 0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Imagen 3">
            <a:extLst>
              <a:ext uri="{FF2B5EF4-FFF2-40B4-BE49-F238E27FC236}">
                <a16:creationId xmlns:a16="http://schemas.microsoft.com/office/drawing/2014/main" id="{958AF5DF-AF2D-17D6-5DF8-7B2AC4DD21E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82" t="86335" r="11362"/>
          <a:stretch/>
        </p:blipFill>
        <p:spPr bwMode="auto">
          <a:xfrm>
            <a:off x="8953972" y="200074"/>
            <a:ext cx="1583140" cy="575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629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807863" y="1569622"/>
            <a:ext cx="10576275" cy="2698297"/>
            <a:chOff x="0" y="0"/>
            <a:chExt cx="21152550" cy="53965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52613" cy="5396534"/>
            </a:xfrm>
            <a:custGeom>
              <a:avLst/>
              <a:gdLst/>
              <a:ahLst/>
              <a:cxnLst/>
              <a:rect l="l" t="t" r="r" b="b"/>
              <a:pathLst>
                <a:path w="21152613" h="5396534">
                  <a:moveTo>
                    <a:pt x="0" y="244791"/>
                  </a:moveTo>
                  <a:cubicBezTo>
                    <a:pt x="0" y="109512"/>
                    <a:pt x="47879" y="0"/>
                    <a:pt x="106807" y="0"/>
                  </a:cubicBezTo>
                  <a:lnTo>
                    <a:pt x="21045805" y="0"/>
                  </a:lnTo>
                  <a:lnTo>
                    <a:pt x="21045805" y="17569"/>
                  </a:lnTo>
                  <a:lnTo>
                    <a:pt x="21045805" y="0"/>
                  </a:lnTo>
                  <a:cubicBezTo>
                    <a:pt x="21104733" y="0"/>
                    <a:pt x="21152613" y="109512"/>
                    <a:pt x="21152613" y="244791"/>
                  </a:cubicBezTo>
                  <a:lnTo>
                    <a:pt x="21144993" y="244791"/>
                  </a:lnTo>
                  <a:lnTo>
                    <a:pt x="21152613" y="244791"/>
                  </a:lnTo>
                  <a:lnTo>
                    <a:pt x="21152613" y="5151743"/>
                  </a:lnTo>
                  <a:lnTo>
                    <a:pt x="21144993" y="5151743"/>
                  </a:lnTo>
                  <a:lnTo>
                    <a:pt x="21152613" y="5151743"/>
                  </a:lnTo>
                  <a:cubicBezTo>
                    <a:pt x="21152613" y="5287022"/>
                    <a:pt x="21104733" y="5396534"/>
                    <a:pt x="21045805" y="5396534"/>
                  </a:cubicBezTo>
                  <a:lnTo>
                    <a:pt x="21045805" y="5378965"/>
                  </a:lnTo>
                  <a:lnTo>
                    <a:pt x="21045805" y="5396534"/>
                  </a:lnTo>
                  <a:lnTo>
                    <a:pt x="106807" y="5396534"/>
                  </a:lnTo>
                  <a:lnTo>
                    <a:pt x="106807" y="5378965"/>
                  </a:lnTo>
                  <a:lnTo>
                    <a:pt x="106807" y="5396534"/>
                  </a:lnTo>
                  <a:cubicBezTo>
                    <a:pt x="47879" y="5396534"/>
                    <a:pt x="0" y="5287022"/>
                    <a:pt x="0" y="5151743"/>
                  </a:cubicBezTo>
                  <a:lnTo>
                    <a:pt x="0" y="244791"/>
                  </a:lnTo>
                  <a:lnTo>
                    <a:pt x="7620" y="244791"/>
                  </a:lnTo>
                  <a:lnTo>
                    <a:pt x="0" y="244791"/>
                  </a:lnTo>
                  <a:moveTo>
                    <a:pt x="15240" y="244791"/>
                  </a:moveTo>
                  <a:lnTo>
                    <a:pt x="15240" y="5151743"/>
                  </a:lnTo>
                  <a:lnTo>
                    <a:pt x="7620" y="5151743"/>
                  </a:lnTo>
                  <a:lnTo>
                    <a:pt x="15240" y="5151743"/>
                  </a:lnTo>
                  <a:cubicBezTo>
                    <a:pt x="15240" y="5267404"/>
                    <a:pt x="56134" y="5361397"/>
                    <a:pt x="106807" y="5361397"/>
                  </a:cubicBezTo>
                  <a:lnTo>
                    <a:pt x="21045805" y="5361397"/>
                  </a:lnTo>
                  <a:cubicBezTo>
                    <a:pt x="21096351" y="5361397"/>
                    <a:pt x="21137372" y="5267404"/>
                    <a:pt x="21137372" y="5151743"/>
                  </a:cubicBezTo>
                  <a:lnTo>
                    <a:pt x="21137372" y="244791"/>
                  </a:lnTo>
                  <a:cubicBezTo>
                    <a:pt x="21137372" y="129130"/>
                    <a:pt x="21096478" y="35137"/>
                    <a:pt x="21045805" y="35137"/>
                  </a:cubicBezTo>
                  <a:lnTo>
                    <a:pt x="106807" y="35137"/>
                  </a:lnTo>
                  <a:lnTo>
                    <a:pt x="106807" y="17569"/>
                  </a:lnTo>
                  <a:lnTo>
                    <a:pt x="106807" y="35137"/>
                  </a:lnTo>
                  <a:cubicBezTo>
                    <a:pt x="56134" y="35137"/>
                    <a:pt x="15240" y="129130"/>
                    <a:pt x="15240" y="244791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AutoShape 6"/>
          <p:cNvSpPr/>
          <p:nvPr/>
        </p:nvSpPr>
        <p:spPr>
          <a:xfrm>
            <a:off x="811059" y="4947912"/>
            <a:ext cx="3660158" cy="1905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4673488" y="4966961"/>
            <a:ext cx="6668057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7297111" y="2311369"/>
            <a:ext cx="1142803" cy="1179000"/>
          </a:xfrm>
          <a:custGeom>
            <a:avLst/>
            <a:gdLst/>
            <a:ahLst/>
            <a:cxnLst/>
            <a:rect l="l" t="t" r="r" b="b"/>
            <a:pathLst>
              <a:path w="1714204" h="1768500">
                <a:moveTo>
                  <a:pt x="0" y="0"/>
                </a:moveTo>
                <a:lnTo>
                  <a:pt x="1714205" y="0"/>
                </a:lnTo>
                <a:lnTo>
                  <a:pt x="1714205" y="1768500"/>
                </a:lnTo>
                <a:lnTo>
                  <a:pt x="0" y="1768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17162" y="2537128"/>
            <a:ext cx="2482071" cy="1198881"/>
          </a:xfrm>
          <a:custGeom>
            <a:avLst/>
            <a:gdLst/>
            <a:ahLst/>
            <a:cxnLst/>
            <a:rect l="l" t="t" r="r" b="b"/>
            <a:pathLst>
              <a:path w="3723106" h="1798322">
                <a:moveTo>
                  <a:pt x="0" y="0"/>
                </a:moveTo>
                <a:lnTo>
                  <a:pt x="3723106" y="0"/>
                </a:lnTo>
                <a:lnTo>
                  <a:pt x="3723106" y="1798323"/>
                </a:lnTo>
                <a:lnTo>
                  <a:pt x="0" y="17983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8175" b="-131531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96970" y="1749876"/>
            <a:ext cx="8488768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Indicadores</a:t>
            </a:r>
            <a:r>
              <a:rPr lang="en-US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claves</a:t>
            </a:r>
            <a:endParaRPr lang="en-US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667628" y="2211895"/>
            <a:ext cx="2685899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99"/>
              </a:lnSpc>
            </a:pPr>
            <a:endParaRPr sz="1200" dirty="0"/>
          </a:p>
          <a:p>
            <a:pPr>
              <a:lnSpc>
                <a:spcPts val="1599"/>
              </a:lnSpc>
            </a:pPr>
            <a:r>
              <a:rPr lang="en-US" sz="133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NPS</a:t>
            </a:r>
          </a:p>
          <a:p>
            <a:pPr>
              <a:lnSpc>
                <a:spcPts val="1599"/>
              </a:lnSpc>
            </a:pP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El % de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detractores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y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Neutros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con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comentarios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negativos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con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respecto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a la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falta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personal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caja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y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cajas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lentas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  <a:p>
            <a:pPr>
              <a:lnSpc>
                <a:spcPts val="1599"/>
              </a:lnSpc>
            </a:pPr>
            <a:endParaRPr lang="en-US" sz="1333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20584" y="4413968"/>
            <a:ext cx="3463818" cy="32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b="1" dirty="0" err="1">
                <a:solidFill>
                  <a:srgbClr val="C30902"/>
                </a:solidFill>
                <a:latin typeface="Aptos Bold"/>
                <a:ea typeface="Aptos Bold"/>
                <a:cs typeface="Aptos Bold"/>
                <a:sym typeface="Aptos Bold"/>
              </a:rPr>
              <a:t>Indicador</a:t>
            </a:r>
            <a:r>
              <a:rPr lang="en-US" b="1" dirty="0">
                <a:solidFill>
                  <a:srgbClr val="C30902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b="1" dirty="0" smtClean="0">
                <a:solidFill>
                  <a:srgbClr val="C30902"/>
                </a:solidFill>
                <a:latin typeface="Aptos Bold"/>
                <a:ea typeface="Aptos Bold"/>
                <a:cs typeface="Aptos Bold"/>
                <a:sym typeface="Aptos Bold"/>
              </a:rPr>
              <a:t>clave</a:t>
            </a:r>
            <a:endParaRPr lang="en-US" b="1" dirty="0">
              <a:solidFill>
                <a:srgbClr val="C30902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81544" y="5149592"/>
            <a:ext cx="3589673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Velocidad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 </a:t>
            </a:r>
            <a:r>
              <a:rPr lang="en-US" sz="12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escaneo</a:t>
            </a:r>
            <a:r>
              <a:rPr lang="en-US" sz="1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Cobertura</a:t>
            </a:r>
            <a:r>
              <a:rPr lang="en-US" sz="1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caja</a:t>
            </a:r>
            <a:endParaRPr lang="en-US" sz="1200" dirty="0" smtClean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Productividad</a:t>
            </a:r>
            <a:endParaRPr lang="en-US" sz="1200" dirty="0" smtClean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NPS.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44132" y="4413968"/>
            <a:ext cx="3463818" cy="32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b="1" dirty="0" err="1" smtClean="0">
                <a:solidFill>
                  <a:srgbClr val="C30902"/>
                </a:solidFill>
                <a:latin typeface="Aptos Bold"/>
                <a:ea typeface="Aptos Bold"/>
                <a:cs typeface="Aptos Bold"/>
                <a:sym typeface="Aptos Bold"/>
              </a:rPr>
              <a:t>Principales</a:t>
            </a:r>
            <a:r>
              <a:rPr lang="en-US" b="1" dirty="0" smtClean="0">
                <a:solidFill>
                  <a:srgbClr val="C30902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b="1" dirty="0" err="1" smtClean="0">
                <a:solidFill>
                  <a:srgbClr val="C30902"/>
                </a:solidFill>
                <a:latin typeface="Aptos Bold"/>
                <a:ea typeface="Aptos Bold"/>
                <a:cs typeface="Aptos Bold"/>
                <a:sym typeface="Aptos Bold"/>
              </a:rPr>
              <a:t>acciones</a:t>
            </a:r>
            <a:r>
              <a:rPr lang="en-US" b="1" dirty="0" smtClean="0">
                <a:solidFill>
                  <a:srgbClr val="C30902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endParaRPr lang="en-US" b="1" dirty="0">
              <a:solidFill>
                <a:srgbClr val="C30902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33329" y="665381"/>
            <a:ext cx="10650841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99"/>
              </a:lnSpc>
              <a:spcBef>
                <a:spcPct val="0"/>
              </a:spcBef>
            </a:pPr>
            <a:r>
              <a:rPr lang="en-US" sz="2666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Productividad</a:t>
            </a:r>
            <a:r>
              <a:rPr lang="en-US" sz="2666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y </a:t>
            </a:r>
            <a:r>
              <a:rPr lang="en-US" sz="2666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n</a:t>
            </a:r>
            <a:r>
              <a:rPr lang="en-US" sz="2666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ivel</a:t>
            </a:r>
            <a:r>
              <a:rPr lang="en-US" sz="2666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666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de </a:t>
            </a:r>
            <a:r>
              <a:rPr lang="en-US" sz="2666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s</a:t>
            </a:r>
            <a:r>
              <a:rPr lang="en-US" sz="2666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ervicio</a:t>
            </a:r>
            <a:r>
              <a:rPr lang="en-US" sz="2666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666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2666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666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c</a:t>
            </a:r>
            <a:r>
              <a:rPr lang="en-US" sz="2666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aja</a:t>
            </a:r>
            <a:endParaRPr lang="en-US" sz="2666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691832" y="2230983"/>
            <a:ext cx="280606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1"/>
              </a:lnSpc>
            </a:pPr>
            <a:r>
              <a:rPr lang="en-US" sz="133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Velocidad</a:t>
            </a:r>
            <a:r>
              <a:rPr lang="en-US" sz="133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33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133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33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caja</a:t>
            </a:r>
            <a:r>
              <a:rPr lang="en-US" sz="133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:</a:t>
            </a:r>
          </a:p>
          <a:p>
            <a:pPr>
              <a:lnSpc>
                <a:spcPts val="1481"/>
              </a:lnSpc>
            </a:pP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Items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escaneados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/min</a:t>
            </a:r>
          </a:p>
          <a:p>
            <a:pPr>
              <a:lnSpc>
                <a:spcPts val="1481"/>
              </a:lnSpc>
            </a:pPr>
            <a:endParaRPr lang="en-US" sz="1333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>
              <a:lnSpc>
                <a:spcPts val="1481"/>
              </a:lnSpc>
            </a:pPr>
            <a:r>
              <a:rPr lang="en-US" sz="1333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Productividad</a:t>
            </a:r>
            <a:endParaRPr lang="en-US" sz="1333" b="1" dirty="0" smtClean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>
              <a:lnSpc>
                <a:spcPts val="1481"/>
              </a:lnSpc>
            </a:pPr>
            <a:r>
              <a:rPr lang="en-US" sz="1333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Soles/JEQ </a:t>
            </a:r>
            <a:r>
              <a:rPr lang="en-US" sz="1333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cajas</a:t>
            </a:r>
            <a:r>
              <a:rPr lang="en-US" sz="1333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.</a:t>
            </a:r>
            <a:endParaRPr lang="en-US" sz="1333" dirty="0" smtClean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>
              <a:lnSpc>
                <a:spcPts val="1481"/>
              </a:lnSpc>
            </a:pPr>
            <a:endParaRPr lang="en-US" sz="1333" b="1" dirty="0" smtClean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>
              <a:lnSpc>
                <a:spcPts val="1481"/>
              </a:lnSpc>
            </a:pPr>
            <a:r>
              <a:rPr lang="en-US" sz="1333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Cobertura</a:t>
            </a:r>
            <a:r>
              <a:rPr lang="en-US" sz="1333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33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1333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333" b="1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caja</a:t>
            </a:r>
            <a:endParaRPr lang="en-US" sz="1333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>
              <a:lnSpc>
                <a:spcPts val="1481"/>
              </a:lnSpc>
            </a:pP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% de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cajas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abiertas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/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Cajas</a:t>
            </a:r>
            <a:r>
              <a:rPr lang="en-US" sz="1333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333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requeridas</a:t>
            </a:r>
            <a:endParaRPr lang="en-US" sz="1333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425175" y="5149592"/>
            <a:ext cx="7514577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Establecimiento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metas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por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tienda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cluster, Dashboard de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medición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diaria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y 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nivel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cajero</a:t>
            </a:r>
            <a:endParaRPr lang="en-US" sz="1200" dirty="0" smtClean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41313" lvl="1" indent="-120657">
              <a:lnSpc>
                <a:spcPts val="1600"/>
              </a:lnSpc>
              <a:buFont typeface="Arial"/>
              <a:buChar char="•"/>
            </a:pPr>
            <a:endParaRPr lang="en-US" sz="1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41313" lvl="1" indent="-120657">
              <a:lnSpc>
                <a:spcPts val="1600"/>
              </a:lnSpc>
              <a:buFont typeface="Arial"/>
              <a:buChar char="•"/>
            </a:pP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Actualización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estandares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y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refinamiento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datos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enviados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a Kronos.</a:t>
            </a:r>
          </a:p>
          <a:p>
            <a:pPr marL="406406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marL="241313" lvl="1" indent="-120657">
              <a:lnSpc>
                <a:spcPts val="1600"/>
              </a:lnSpc>
              <a:buFont typeface="Arial"/>
              <a:buChar char="•"/>
            </a:pP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Metas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por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tienda</a:t>
            </a:r>
            <a:r>
              <a:rPr lang="en-US" sz="1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-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cluster,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estimación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dotación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por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equipo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EO a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nivel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área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  <a:p>
            <a:pPr marL="241313" lvl="1" indent="-120657">
              <a:lnSpc>
                <a:spcPts val="1600"/>
              </a:lnSpc>
              <a:buFont typeface="Arial"/>
              <a:buChar char="•"/>
            </a:pPr>
            <a:endParaRPr lang="en-US" sz="1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241313" lvl="1" indent="-120657">
              <a:lnSpc>
                <a:spcPts val="1600"/>
              </a:lnSpc>
              <a:buFont typeface="Arial"/>
              <a:buChar char="•"/>
            </a:pP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Construcción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un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tablero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con la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información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InHouse</a:t>
            </a:r>
            <a:r>
              <a:rPr lang="en-US" sz="12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  <a:endParaRPr lang="en-US" sz="1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0" y="0"/>
            <a:ext cx="178676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3975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1"/>
          <p:cNvSpPr txBox="1"/>
          <p:nvPr/>
        </p:nvSpPr>
        <p:spPr>
          <a:xfrm>
            <a:off x="714703" y="667310"/>
            <a:ext cx="10487201" cy="335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¿Como van </a:t>
            </a:r>
            <a:r>
              <a:rPr lang="en-US" sz="2250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nuestros</a:t>
            </a: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resultados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c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ajas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PVV?</a:t>
            </a:r>
            <a:endParaRPr lang="en-US" sz="2250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graphicFrame>
        <p:nvGraphicFramePr>
          <p:cNvPr id="9" name="Gráfico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6293120"/>
              </p:ext>
            </p:extLst>
          </p:nvPr>
        </p:nvGraphicFramePr>
        <p:xfrm>
          <a:off x="6658854" y="2151243"/>
          <a:ext cx="4826439" cy="1682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ángulo 10"/>
          <p:cNvSpPr/>
          <p:nvPr/>
        </p:nvSpPr>
        <p:spPr>
          <a:xfrm>
            <a:off x="0" y="0"/>
            <a:ext cx="178676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TextBox 19"/>
          <p:cNvSpPr txBox="1"/>
          <p:nvPr/>
        </p:nvSpPr>
        <p:spPr>
          <a:xfrm>
            <a:off x="6252194" y="1319708"/>
            <a:ext cx="4558788" cy="192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u="sng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Cobertura</a:t>
            </a:r>
            <a:r>
              <a:rPr lang="en-US" sz="1100" b="1" u="sng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u="sng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1100" b="1" u="sng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u="sng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caja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sz="11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% </a:t>
            </a:r>
            <a:r>
              <a:rPr lang="en-US" sz="1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 </a:t>
            </a:r>
            <a:r>
              <a:rPr lang="en-US" sz="1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cajas</a:t>
            </a:r>
            <a:r>
              <a:rPr lang="en-US" sz="1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abiertas</a:t>
            </a:r>
            <a:r>
              <a:rPr lang="en-US" sz="1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/</a:t>
            </a:r>
            <a:r>
              <a:rPr lang="en-US" sz="1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Cajas</a:t>
            </a:r>
            <a:r>
              <a:rPr lang="en-US" sz="1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requeridas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88579" y="1243340"/>
            <a:ext cx="6096000" cy="2846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u="sng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Velocidad</a:t>
            </a:r>
            <a:r>
              <a:rPr lang="en-US" sz="1100" b="1" u="sng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u="sng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1100" b="1" u="sng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u="sng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caja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sz="1100" dirty="0" smtClean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Items </a:t>
            </a:r>
            <a:r>
              <a:rPr lang="en-US" sz="1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escaneados</a:t>
            </a:r>
            <a:r>
              <a:rPr lang="en-US" sz="1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/min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714703" y="4300398"/>
            <a:ext cx="6096000" cy="2846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u="sng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Productividad</a:t>
            </a:r>
            <a:r>
              <a:rPr lang="en-US" sz="1100" b="1" u="sng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sz="1100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Soles (miles) /JEQ </a:t>
            </a:r>
            <a:r>
              <a:rPr lang="en-US" sz="1100" dirty="0" err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cajas</a:t>
            </a:r>
            <a:endParaRPr lang="en-US" sz="1100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graphicFrame>
        <p:nvGraphicFramePr>
          <p:cNvPr id="15" name="Gráfico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5401509"/>
              </p:ext>
            </p:extLst>
          </p:nvPr>
        </p:nvGraphicFramePr>
        <p:xfrm>
          <a:off x="436940" y="4554720"/>
          <a:ext cx="5040993" cy="1920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9" name="Imagen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713" y="4473187"/>
            <a:ext cx="2434049" cy="2178480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 rotWithShape="1">
          <a:blip r:embed="rId6"/>
          <a:srcRect r="1770"/>
          <a:stretch/>
        </p:blipFill>
        <p:spPr>
          <a:xfrm>
            <a:off x="9072293" y="4473187"/>
            <a:ext cx="2560906" cy="2215134"/>
          </a:xfrm>
          <a:prstGeom prst="rect">
            <a:avLst/>
          </a:prstGeom>
        </p:spPr>
      </p:pic>
      <p:sp>
        <p:nvSpPr>
          <p:cNvPr id="21" name="Rectángulo 20"/>
          <p:cNvSpPr/>
          <p:nvPr/>
        </p:nvSpPr>
        <p:spPr>
          <a:xfrm>
            <a:off x="6252194" y="4142086"/>
            <a:ext cx="2413000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TOP 10: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Cump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.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Productividad</a:t>
            </a:r>
            <a:endParaRPr lang="en-US" sz="1100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2" name="Rectángulo 21"/>
          <p:cNvSpPr/>
          <p:nvPr/>
        </p:nvSpPr>
        <p:spPr>
          <a:xfrm>
            <a:off x="9072073" y="4016895"/>
            <a:ext cx="2584122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Botton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10: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Cump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.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Productividad</a:t>
            </a:r>
            <a:endParaRPr lang="en-US" sz="1100" dirty="0">
              <a:solidFill>
                <a:srgbClr val="00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graphicFrame>
        <p:nvGraphicFramePr>
          <p:cNvPr id="23" name="Gráfico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796954"/>
              </p:ext>
            </p:extLst>
          </p:nvPr>
        </p:nvGraphicFramePr>
        <p:xfrm>
          <a:off x="406401" y="1690549"/>
          <a:ext cx="5706093" cy="2325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13353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975" y="1868044"/>
            <a:ext cx="4969963" cy="3323963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0" y="0"/>
            <a:ext cx="178676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TextBox 11"/>
          <p:cNvSpPr txBox="1"/>
          <p:nvPr/>
        </p:nvSpPr>
        <p:spPr>
          <a:xfrm>
            <a:off x="714703" y="667310"/>
            <a:ext cx="1048720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¿Como van </a:t>
            </a:r>
            <a:r>
              <a:rPr lang="en-US" sz="2250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nuestros</a:t>
            </a: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resultados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NPS?</a:t>
            </a:r>
            <a:endParaRPr lang="en-US" sz="2250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714703" y="5380925"/>
            <a:ext cx="11077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 smtClean="0"/>
              <a:t>Se visualiza una mejora en % de detractores para “cajas falta de personal (-1.46pp)  y atención lenta (-4.1pp)”, sin embargo aún tenemos oportunidades para los clientes detractores con “respecto a atención lenta en caja (+2.88pp)” impactados principalmente en los meses de abril y mayo.</a:t>
            </a:r>
            <a:endParaRPr lang="es-PE" dirty="0"/>
          </a:p>
        </p:txBody>
      </p:sp>
      <p:sp>
        <p:nvSpPr>
          <p:cNvPr id="8" name="Rectángulo 7"/>
          <p:cNvSpPr/>
          <p:nvPr/>
        </p:nvSpPr>
        <p:spPr>
          <a:xfrm>
            <a:off x="9434815" y="3215788"/>
            <a:ext cx="1645478" cy="211667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/>
          <p:cNvSpPr/>
          <p:nvPr/>
        </p:nvSpPr>
        <p:spPr>
          <a:xfrm>
            <a:off x="9400947" y="2303698"/>
            <a:ext cx="1645478" cy="211667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/>
          <p:cNvSpPr/>
          <p:nvPr/>
        </p:nvSpPr>
        <p:spPr>
          <a:xfrm>
            <a:off x="6925735" y="3813845"/>
            <a:ext cx="1645478" cy="46182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15" name="Grupo 14"/>
          <p:cNvGrpSpPr/>
          <p:nvPr/>
        </p:nvGrpSpPr>
        <p:grpSpPr>
          <a:xfrm>
            <a:off x="1219200" y="1868044"/>
            <a:ext cx="5451213" cy="2763962"/>
            <a:chOff x="636818" y="1868043"/>
            <a:chExt cx="6277595" cy="2910245"/>
          </a:xfrm>
        </p:grpSpPr>
        <p:pic>
          <p:nvPicPr>
            <p:cNvPr id="11" name="Imagen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818" y="1868043"/>
              <a:ext cx="6277595" cy="2910245"/>
            </a:xfrm>
            <a:prstGeom prst="rect">
              <a:avLst/>
            </a:prstGeom>
          </p:spPr>
        </p:pic>
        <p:sp>
          <p:nvSpPr>
            <p:cNvPr id="12" name="CuadroTexto 11"/>
            <p:cNvSpPr txBox="1"/>
            <p:nvPr/>
          </p:nvSpPr>
          <p:spPr>
            <a:xfrm>
              <a:off x="5790314" y="2972255"/>
              <a:ext cx="437940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PE" sz="800" dirty="0" smtClean="0">
                  <a:solidFill>
                    <a:schemeClr val="bg1">
                      <a:lumMod val="65000"/>
                    </a:schemeClr>
                  </a:solidFill>
                </a:rPr>
                <a:t>56.0%</a:t>
              </a:r>
              <a:endParaRPr lang="es-PE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4" name="Rectángulo redondeado 13"/>
            <p:cNvSpPr/>
            <p:nvPr/>
          </p:nvSpPr>
          <p:spPr>
            <a:xfrm>
              <a:off x="5815715" y="2738495"/>
              <a:ext cx="437940" cy="152400"/>
            </a:xfrm>
            <a:prstGeom prst="roundRect">
              <a:avLst/>
            </a:prstGeom>
            <a:solidFill>
              <a:srgbClr val="FEEC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7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60.3%</a:t>
              </a:r>
              <a:endParaRPr lang="es-PE" sz="7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6" name="Rectángulo 15"/>
          <p:cNvSpPr/>
          <p:nvPr/>
        </p:nvSpPr>
        <p:spPr>
          <a:xfrm>
            <a:off x="698975" y="1506574"/>
            <a:ext cx="6096000" cy="2687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u="sng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NPS </a:t>
            </a:r>
            <a:r>
              <a:rPr lang="en-US" sz="1100" b="1" u="sng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Evolutivo</a:t>
            </a:r>
            <a:r>
              <a:rPr lang="en-US" sz="1100" b="1" u="sng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Plaza </a:t>
            </a:r>
            <a:r>
              <a:rPr lang="en-US" sz="1100" b="1" u="sng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Vea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4"/>
          <a:srcRect l="5874" r="3818" b="2544"/>
          <a:stretch/>
        </p:blipFill>
        <p:spPr>
          <a:xfrm>
            <a:off x="365760" y="1854685"/>
            <a:ext cx="1214120" cy="189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07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/>
          <p:nvPr/>
        </p:nvSpPr>
        <p:spPr>
          <a:xfrm>
            <a:off x="714703" y="667310"/>
            <a:ext cx="1048720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¿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Cuales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son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nuestros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próximos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pasos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?</a:t>
            </a:r>
            <a:endParaRPr lang="en-US" sz="2250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0" y="0"/>
            <a:ext cx="178676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7"/>
          <p:cNvSpPr/>
          <p:nvPr/>
        </p:nvSpPr>
        <p:spPr>
          <a:xfrm>
            <a:off x="615066" y="1180328"/>
            <a:ext cx="9146263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Planes de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acción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en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equipo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con Dream Team,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Gestión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Humana y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sistemas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para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acciones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a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principales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factores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.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831940" y="5953046"/>
            <a:ext cx="10344141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Estimación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: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crecimiento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 2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puntos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nos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genera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una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disponibilidad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 8.4K-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hh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/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mes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03" y="1822522"/>
            <a:ext cx="10461379" cy="392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4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463" y="1958836"/>
            <a:ext cx="4324436" cy="3577524"/>
          </a:xfrm>
          <a:prstGeom prst="rect">
            <a:avLst/>
          </a:prstGeom>
        </p:spPr>
      </p:pic>
      <p:sp>
        <p:nvSpPr>
          <p:cNvPr id="3" name="TextBox 11"/>
          <p:cNvSpPr txBox="1"/>
          <p:nvPr/>
        </p:nvSpPr>
        <p:spPr>
          <a:xfrm>
            <a:off x="714703" y="667310"/>
            <a:ext cx="1048720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Quick Wins.</a:t>
            </a:r>
            <a:endParaRPr lang="en-US" sz="2250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0" y="0"/>
            <a:ext cx="178676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 6"/>
          <p:cNvSpPr/>
          <p:nvPr/>
        </p:nvSpPr>
        <p:spPr>
          <a:xfrm>
            <a:off x="8674170" y="3590998"/>
            <a:ext cx="2789518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Medición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del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todo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el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ciclo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atención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caja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1263215" y="2049597"/>
            <a:ext cx="2560563" cy="669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481"/>
              </a:lnSpc>
            </a:pP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Acciones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en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productos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de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abarrotes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y non food con mayor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incidencia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en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digitación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en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caja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9" name="Elipse 8"/>
          <p:cNvSpPr/>
          <p:nvPr/>
        </p:nvSpPr>
        <p:spPr>
          <a:xfrm>
            <a:off x="636141" y="2095019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1</a:t>
            </a:r>
            <a:endParaRPr lang="es-PE" dirty="0"/>
          </a:p>
        </p:txBody>
      </p:sp>
      <p:sp>
        <p:nvSpPr>
          <p:cNvPr id="10" name="Elipse 9"/>
          <p:cNvSpPr/>
          <p:nvPr/>
        </p:nvSpPr>
        <p:spPr>
          <a:xfrm>
            <a:off x="8176899" y="2259812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4</a:t>
            </a:r>
          </a:p>
        </p:txBody>
      </p:sp>
      <p:sp>
        <p:nvSpPr>
          <p:cNvPr id="11" name="Elipse 10"/>
          <p:cNvSpPr/>
          <p:nvPr/>
        </p:nvSpPr>
        <p:spPr>
          <a:xfrm>
            <a:off x="664826" y="3336977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2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1232034" y="3316757"/>
            <a:ext cx="2627697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Estabilización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plataforma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SIP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8176899" y="3567598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4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8778051" y="2296587"/>
            <a:ext cx="3003272" cy="669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Redefinición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en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acciones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con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intervención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de supervisor de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cajas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,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ejemplo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anulación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"/>
                <a:cs typeface="Aptos"/>
                <a:sym typeface="Aptos Bold"/>
              </a:rPr>
              <a:t> de item.</a:t>
            </a:r>
          </a:p>
        </p:txBody>
      </p:sp>
      <p:sp>
        <p:nvSpPr>
          <p:cNvPr id="15" name="Elipse 14"/>
          <p:cNvSpPr/>
          <p:nvPr/>
        </p:nvSpPr>
        <p:spPr>
          <a:xfrm>
            <a:off x="636141" y="4477217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3</a:t>
            </a:r>
            <a:endParaRPr lang="es-PE" dirty="0"/>
          </a:p>
        </p:txBody>
      </p:sp>
      <p:sp>
        <p:nvSpPr>
          <p:cNvPr id="16" name="Rectángulo 15"/>
          <p:cNvSpPr/>
          <p:nvPr/>
        </p:nvSpPr>
        <p:spPr>
          <a:xfrm>
            <a:off x="1232034" y="4477217"/>
            <a:ext cx="2512193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Tecla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rápida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Deli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3355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 txBox="1"/>
          <p:nvPr/>
        </p:nvSpPr>
        <p:spPr>
          <a:xfrm>
            <a:off x="714703" y="667310"/>
            <a:ext cx="1048720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Procesos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Productos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Digitados</a:t>
            </a: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de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Abarrotes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y Non Food</a:t>
            </a:r>
            <a:endParaRPr lang="en-US" sz="2250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35" y="3778076"/>
            <a:ext cx="4820323" cy="2457793"/>
          </a:xfrm>
          <a:prstGeom prst="rect">
            <a:avLst/>
          </a:prstGeom>
        </p:spPr>
      </p:pic>
      <p:sp>
        <p:nvSpPr>
          <p:cNvPr id="17" name="Rectángulo 16"/>
          <p:cNvSpPr/>
          <p:nvPr/>
        </p:nvSpPr>
        <p:spPr>
          <a:xfrm>
            <a:off x="7339262" y="3493383"/>
            <a:ext cx="2907547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81"/>
              </a:lnSpc>
            </a:pPr>
            <a:r>
              <a:rPr lang="en-US" sz="105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Distribución</a:t>
            </a:r>
            <a:r>
              <a:rPr lang="en-US" sz="105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05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por</a:t>
            </a:r>
            <a:r>
              <a:rPr lang="en-US" sz="105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05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marca</a:t>
            </a:r>
            <a:r>
              <a:rPr lang="en-US" sz="105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(</a:t>
            </a:r>
            <a:r>
              <a:rPr lang="en-US" sz="105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ene</a:t>
            </a:r>
            <a:r>
              <a:rPr lang="en-US" sz="105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- 09 </a:t>
            </a:r>
            <a:r>
              <a:rPr lang="en-US" sz="105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jun</a:t>
            </a:r>
            <a:r>
              <a:rPr lang="en-US" sz="105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)</a:t>
            </a:r>
            <a:endParaRPr lang="en-US" sz="105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4"/>
          <a:srcRect b="9068"/>
          <a:stretch/>
        </p:blipFill>
        <p:spPr>
          <a:xfrm>
            <a:off x="534635" y="1228399"/>
            <a:ext cx="1900557" cy="1832435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 rotWithShape="1">
          <a:blip r:embed="rId5"/>
          <a:srcRect l="3854"/>
          <a:stretch/>
        </p:blipFill>
        <p:spPr>
          <a:xfrm>
            <a:off x="2714324" y="1228397"/>
            <a:ext cx="9057373" cy="1818057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3010" y="3778076"/>
            <a:ext cx="2809575" cy="2640396"/>
          </a:xfrm>
          <a:prstGeom prst="rect">
            <a:avLst/>
          </a:prstGeom>
        </p:spPr>
      </p:pic>
      <p:sp>
        <p:nvSpPr>
          <p:cNvPr id="21" name="CuadroTexto 20"/>
          <p:cNvSpPr txBox="1"/>
          <p:nvPr/>
        </p:nvSpPr>
        <p:spPr>
          <a:xfrm>
            <a:off x="4591992" y="3778076"/>
            <a:ext cx="762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“Mayo”</a:t>
            </a:r>
            <a:endParaRPr lang="es-PE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76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861088" y="1585815"/>
            <a:ext cx="1749364" cy="2645674"/>
            <a:chOff x="4662559" y="1891115"/>
            <a:chExt cx="1491615" cy="2651760"/>
          </a:xfrm>
        </p:grpSpPr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2559" y="1891115"/>
              <a:ext cx="1491615" cy="2651760"/>
            </a:xfrm>
            <a:prstGeom prst="rect">
              <a:avLst/>
            </a:prstGeom>
          </p:spPr>
        </p:pic>
        <p:sp>
          <p:nvSpPr>
            <p:cNvPr id="7" name="Rectángulo 6"/>
            <p:cNvSpPr/>
            <p:nvPr/>
          </p:nvSpPr>
          <p:spPr>
            <a:xfrm>
              <a:off x="5384418" y="3641825"/>
              <a:ext cx="769756" cy="481035"/>
            </a:xfrm>
            <a:prstGeom prst="rect">
              <a:avLst/>
            </a:prstGeom>
            <a:noFill/>
            <a:ln w="28575">
              <a:prstDash val="sysDot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14703" y="667310"/>
            <a:ext cx="1048720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Procesos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Productos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Digitados</a:t>
            </a: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de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Abarrotes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y Non Food</a:t>
            </a:r>
            <a:endParaRPr lang="en-US" sz="2250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2815322" y="2064110"/>
            <a:ext cx="3527726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PE"/>
            </a:defPPr>
            <a:lvl1pPr marL="171450" indent="-171450" algn="just" fontAlgn="base">
              <a:buFont typeface="Arial" panose="020B0604020202020204" pitchFamily="34" charset="0"/>
              <a:buChar char="•"/>
              <a:defRPr sz="1100">
                <a:solidFill>
                  <a:srgbClr val="000000"/>
                </a:solidFill>
                <a:latin typeface="Aptos" panose="020B0604020202020204" charset="0"/>
              </a:defRPr>
            </a:lvl1pPr>
          </a:lstStyle>
          <a:p>
            <a:r>
              <a:rPr lang="es-PE" dirty="0"/>
              <a:t>Código de barra de menos tamaño.</a:t>
            </a:r>
          </a:p>
          <a:p>
            <a:r>
              <a:rPr lang="es-PE" dirty="0"/>
              <a:t>Parte del código esta en una hendidura del envase</a:t>
            </a:r>
          </a:p>
          <a:p>
            <a:endParaRPr lang="es-PE" dirty="0"/>
          </a:p>
          <a:p>
            <a:endParaRPr lang="es-PE" dirty="0"/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 rotWithShape="1">
          <a:blip r:embed="rId3"/>
          <a:srcRect l="2087" b="63720"/>
          <a:stretch/>
        </p:blipFill>
        <p:spPr>
          <a:xfrm>
            <a:off x="6612556" y="1456876"/>
            <a:ext cx="4719690" cy="891687"/>
          </a:xfrm>
          <a:prstGeom prst="rect">
            <a:avLst/>
          </a:prstGeom>
        </p:spPr>
      </p:pic>
      <p:sp>
        <p:nvSpPr>
          <p:cNvPr id="24" name="CuadroTexto 23"/>
          <p:cNvSpPr txBox="1"/>
          <p:nvPr/>
        </p:nvSpPr>
        <p:spPr>
          <a:xfrm>
            <a:off x="10569280" y="1456876"/>
            <a:ext cx="762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“Mayo”</a:t>
            </a:r>
            <a:endParaRPr lang="es-PE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88" y="4355421"/>
            <a:ext cx="10945637" cy="2045440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6636177" y="1944303"/>
            <a:ext cx="4817886" cy="250844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2509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15" t="24559" r="8006" b="32482"/>
          <a:stretch/>
        </p:blipFill>
        <p:spPr>
          <a:xfrm>
            <a:off x="2485055" y="3138423"/>
            <a:ext cx="3251432" cy="1064930"/>
          </a:xfrm>
          <a:prstGeom prst="rect">
            <a:avLst/>
          </a:prstGeom>
        </p:spPr>
      </p:pic>
      <p:grpSp>
        <p:nvGrpSpPr>
          <p:cNvPr id="9" name="Grupo 8"/>
          <p:cNvGrpSpPr/>
          <p:nvPr/>
        </p:nvGrpSpPr>
        <p:grpSpPr>
          <a:xfrm>
            <a:off x="799162" y="1473361"/>
            <a:ext cx="1535621" cy="2729992"/>
            <a:chOff x="6520724" y="1918655"/>
            <a:chExt cx="1535621" cy="2729992"/>
          </a:xfrm>
        </p:grpSpPr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0724" y="1918655"/>
              <a:ext cx="1535621" cy="2729992"/>
            </a:xfrm>
            <a:prstGeom prst="rect">
              <a:avLst/>
            </a:prstGeom>
          </p:spPr>
        </p:pic>
        <p:sp>
          <p:nvSpPr>
            <p:cNvPr id="6" name="Rectángulo 5"/>
            <p:cNvSpPr/>
            <p:nvPr/>
          </p:nvSpPr>
          <p:spPr>
            <a:xfrm>
              <a:off x="6933961" y="3548932"/>
              <a:ext cx="709146" cy="400785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14703" y="667310"/>
            <a:ext cx="1048720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Procesos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Productos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Digitados</a:t>
            </a:r>
            <a:r>
              <a:rPr lang="en-US" sz="2250" b="1" dirty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de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Abarrotes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y Non Food</a:t>
            </a:r>
            <a:endParaRPr lang="en-US" sz="2250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485055" y="2015500"/>
            <a:ext cx="3613630" cy="6001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PE"/>
            </a:defPPr>
            <a:lvl1pPr algn="just" fontAlgn="base">
              <a:defRPr sz="1100">
                <a:solidFill>
                  <a:srgbClr val="000000"/>
                </a:solidFill>
                <a:latin typeface="Aptos" panose="020B0604020202020204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dirty="0"/>
              <a:t>El sello se encuentra encima del código de barras.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PE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PE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4"/>
          <a:srcRect b="4029"/>
          <a:stretch/>
        </p:blipFill>
        <p:spPr>
          <a:xfrm>
            <a:off x="624726" y="4424214"/>
            <a:ext cx="10577178" cy="1913532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5"/>
          <a:srcRect b="64503"/>
          <a:stretch/>
        </p:blipFill>
        <p:spPr>
          <a:xfrm>
            <a:off x="6511923" y="1456877"/>
            <a:ext cx="4820323" cy="872438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569280" y="1456876"/>
            <a:ext cx="762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“Mayo”</a:t>
            </a:r>
            <a:endParaRPr lang="es-PE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6636177" y="1944303"/>
            <a:ext cx="4817886" cy="250844"/>
          </a:xfrm>
          <a:prstGeom prst="rect">
            <a:avLst/>
          </a:prstGeom>
          <a:noFill/>
          <a:ln w="1905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646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/>
        </p:nvSpPr>
        <p:spPr>
          <a:xfrm>
            <a:off x="714703" y="667310"/>
            <a:ext cx="1048720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Procesos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Velocidad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de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cajas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s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ección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d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elivea</a:t>
            </a:r>
            <a:endParaRPr lang="en-US" sz="2250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97" y="1395881"/>
            <a:ext cx="8014915" cy="2057710"/>
          </a:xfrm>
          <a:prstGeom prst="rect">
            <a:avLst/>
          </a:prstGeom>
        </p:spPr>
      </p:pic>
      <p:grpSp>
        <p:nvGrpSpPr>
          <p:cNvPr id="10" name="Grupo 9"/>
          <p:cNvGrpSpPr/>
          <p:nvPr/>
        </p:nvGrpSpPr>
        <p:grpSpPr>
          <a:xfrm>
            <a:off x="4979191" y="4395805"/>
            <a:ext cx="6118738" cy="1407590"/>
            <a:chOff x="312899" y="3942649"/>
            <a:chExt cx="8234314" cy="1332082"/>
          </a:xfrm>
        </p:grpSpPr>
        <p:pic>
          <p:nvPicPr>
            <p:cNvPr id="9" name="Imagen 8"/>
            <p:cNvPicPr>
              <a:picLocks noChangeAspect="1"/>
            </p:cNvPicPr>
            <p:nvPr/>
          </p:nvPicPr>
          <p:blipFill rotWithShape="1">
            <a:blip r:embed="rId3"/>
            <a:srcRect l="64518" t="7812"/>
            <a:stretch/>
          </p:blipFill>
          <p:spPr>
            <a:xfrm>
              <a:off x="2082799" y="3942649"/>
              <a:ext cx="6464414" cy="1329267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 rotWithShape="1">
            <a:blip r:embed="rId3"/>
            <a:srcRect t="7812" r="59288"/>
            <a:stretch/>
          </p:blipFill>
          <p:spPr>
            <a:xfrm>
              <a:off x="312899" y="3945464"/>
              <a:ext cx="7417168" cy="1329267"/>
            </a:xfrm>
            <a:prstGeom prst="rect">
              <a:avLst/>
            </a:prstGeom>
          </p:spPr>
        </p:pic>
      </p:grpSp>
      <p:sp>
        <p:nvSpPr>
          <p:cNvPr id="12" name="Rectángulo 11"/>
          <p:cNvSpPr/>
          <p:nvPr/>
        </p:nvSpPr>
        <p:spPr>
          <a:xfrm>
            <a:off x="9256155" y="1219145"/>
            <a:ext cx="217865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s-MX" sz="1100" dirty="0" smtClean="0">
                <a:solidFill>
                  <a:srgbClr val="000000"/>
                </a:solidFill>
                <a:latin typeface="Aptos" panose="020B0604020202020204" charset="0"/>
              </a:rPr>
              <a:t>- La velocidad en las cajas del </a:t>
            </a:r>
            <a:r>
              <a:rPr lang="es-MX" sz="1100" dirty="0" err="1" smtClean="0">
                <a:solidFill>
                  <a:srgbClr val="000000"/>
                </a:solidFill>
                <a:latin typeface="Aptos" panose="020B0604020202020204" charset="0"/>
              </a:rPr>
              <a:t>Delivea</a:t>
            </a:r>
            <a:r>
              <a:rPr lang="es-MX" sz="1100" dirty="0" smtClean="0">
                <a:solidFill>
                  <a:srgbClr val="000000"/>
                </a:solidFill>
                <a:latin typeface="Aptos" panose="020B0604020202020204" charset="0"/>
              </a:rPr>
              <a:t> es 36% más baja que en una lineal.</a:t>
            </a:r>
          </a:p>
          <a:p>
            <a:pPr algn="just" fontAlgn="base"/>
            <a:r>
              <a:rPr lang="es-MX" sz="1100" dirty="0">
                <a:solidFill>
                  <a:srgbClr val="000000"/>
                </a:solidFill>
                <a:latin typeface="Aptos" panose="020B0604020202020204" charset="0"/>
              </a:rPr>
              <a:t>-</a:t>
            </a:r>
            <a:r>
              <a:rPr lang="es-MX" sz="1100" dirty="0" smtClean="0">
                <a:solidFill>
                  <a:srgbClr val="000000"/>
                </a:solidFill>
                <a:latin typeface="Aptos" panose="020B0604020202020204" charset="0"/>
              </a:rPr>
              <a:t> El Deli a nivel cadena  tiene un peso estimado de 2.4% en las transacciones, sin embargo a nivel tienda su participación va 9 -14%.</a:t>
            </a: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4"/>
          <a:srcRect r="2756"/>
          <a:stretch/>
        </p:blipFill>
        <p:spPr>
          <a:xfrm>
            <a:off x="774247" y="3568671"/>
            <a:ext cx="2815448" cy="306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9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/>
          <p:cNvPicPr>
            <a:picLocks noChangeAspect="1"/>
          </p:cNvPicPr>
          <p:nvPr/>
        </p:nvPicPr>
        <p:blipFill rotWithShape="1">
          <a:blip r:embed="rId3"/>
          <a:srcRect l="4733"/>
          <a:stretch/>
        </p:blipFill>
        <p:spPr>
          <a:xfrm>
            <a:off x="4696360" y="2782624"/>
            <a:ext cx="6268454" cy="3757389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918444" y="654923"/>
            <a:ext cx="1048720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Equipos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Cambios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de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modelo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de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cajas</a:t>
            </a:r>
            <a:endParaRPr lang="en-US" sz="2250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808522" y="1636616"/>
            <a:ext cx="312580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s-MX" sz="1100" dirty="0">
                <a:solidFill>
                  <a:srgbClr val="000000"/>
                </a:solidFill>
                <a:latin typeface="Aptos" panose="020B0604020202020204" charset="0"/>
              </a:rPr>
              <a:t>5 tiendas con cambio de cajas, las cuales logran una </a:t>
            </a:r>
            <a:r>
              <a:rPr lang="es-MX" sz="1100" b="1" dirty="0">
                <a:solidFill>
                  <a:srgbClr val="000000"/>
                </a:solidFill>
                <a:latin typeface="Aptos" panose="020B0604020202020204" charset="0"/>
              </a:rPr>
              <a:t>mejora promedio post implementación del +10% en la velocidad de  cajas.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6535554" y="775421"/>
            <a:ext cx="552581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endParaRPr lang="es-MX" sz="1100" b="1" dirty="0" smtClean="0">
              <a:solidFill>
                <a:srgbClr val="000000"/>
              </a:solidFill>
              <a:latin typeface="Aptos" panose="020B0604020202020204" charset="0"/>
            </a:endParaRP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6360" y="1652869"/>
            <a:ext cx="6144093" cy="1350784"/>
          </a:xfrm>
          <a:prstGeom prst="rect">
            <a:avLst/>
          </a:prstGeom>
        </p:spPr>
      </p:pic>
      <p:sp>
        <p:nvSpPr>
          <p:cNvPr id="23" name="Rectángulo 22"/>
          <p:cNvSpPr/>
          <p:nvPr/>
        </p:nvSpPr>
        <p:spPr>
          <a:xfrm>
            <a:off x="808522" y="2782624"/>
            <a:ext cx="312580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 fontAlgn="base">
              <a:buFont typeface="Arial" panose="020B0604020202020204" pitchFamily="34" charset="0"/>
              <a:buChar char="•"/>
            </a:pPr>
            <a:r>
              <a:rPr lang="es-MX" sz="1100" dirty="0" smtClean="0">
                <a:solidFill>
                  <a:srgbClr val="000000"/>
                </a:solidFill>
                <a:latin typeface="Aptos" panose="020B0604020202020204" charset="0"/>
              </a:rPr>
              <a:t> </a:t>
            </a:r>
            <a:r>
              <a:rPr lang="es-MX" sz="1100" dirty="0" err="1" smtClean="0">
                <a:solidFill>
                  <a:srgbClr val="000000"/>
                </a:solidFill>
                <a:latin typeface="Aptos" panose="020B0604020202020204" charset="0"/>
              </a:rPr>
              <a:t>Ppto</a:t>
            </a:r>
            <a:r>
              <a:rPr lang="es-MX" sz="1100" dirty="0" smtClean="0">
                <a:solidFill>
                  <a:srgbClr val="000000"/>
                </a:solidFill>
                <a:latin typeface="Aptos" panose="020B0604020202020204" charset="0"/>
              </a:rPr>
              <a:t> 2026: 09 Tiendas (209 cajas)</a:t>
            </a:r>
          </a:p>
          <a:p>
            <a:pPr marL="628650" lvl="1" indent="-171450" algn="just" fontAlgn="base">
              <a:buFont typeface="Arial" panose="020B0604020202020204" pitchFamily="34" charset="0"/>
              <a:buChar char="•"/>
            </a:pPr>
            <a:r>
              <a:rPr lang="es-MX" sz="1100" b="1" dirty="0" smtClean="0">
                <a:solidFill>
                  <a:srgbClr val="000000"/>
                </a:solidFill>
                <a:latin typeface="Aptos" panose="020B0604020202020204" charset="0"/>
              </a:rPr>
              <a:t>04T ejecutadas</a:t>
            </a:r>
          </a:p>
          <a:p>
            <a:pPr marL="628650" lvl="1" indent="-171450" algn="just" fontAlgn="base">
              <a:buFont typeface="Arial" panose="020B0604020202020204" pitchFamily="34" charset="0"/>
              <a:buChar char="•"/>
            </a:pPr>
            <a:r>
              <a:rPr lang="es-MX" sz="1100" b="1" dirty="0" smtClean="0">
                <a:solidFill>
                  <a:srgbClr val="000000"/>
                </a:solidFill>
                <a:latin typeface="Aptos" panose="020B0604020202020204" charset="0"/>
              </a:rPr>
              <a:t>02TJunio</a:t>
            </a:r>
          </a:p>
          <a:p>
            <a:pPr marL="628650" lvl="1" indent="-171450" algn="just" fontAlgn="base">
              <a:buFont typeface="Arial" panose="020B0604020202020204" pitchFamily="34" charset="0"/>
              <a:buChar char="•"/>
            </a:pPr>
            <a:r>
              <a:rPr lang="es-MX" sz="1100" b="1" dirty="0" smtClean="0">
                <a:solidFill>
                  <a:srgbClr val="000000"/>
                </a:solidFill>
                <a:latin typeface="Aptos" panose="020B0604020202020204" charset="0"/>
              </a:rPr>
              <a:t>02T Julio</a:t>
            </a:r>
          </a:p>
          <a:p>
            <a:pPr marL="628650" lvl="1" indent="-171450" algn="just" fontAlgn="base">
              <a:buFont typeface="Arial" panose="020B0604020202020204" pitchFamily="34" charset="0"/>
              <a:buChar char="•"/>
            </a:pPr>
            <a:r>
              <a:rPr lang="es-MX" sz="1100" b="1" dirty="0" smtClean="0">
                <a:solidFill>
                  <a:srgbClr val="000000"/>
                </a:solidFill>
                <a:latin typeface="Aptos" panose="020B0604020202020204" charset="0"/>
              </a:rPr>
              <a:t>01T Agosto</a:t>
            </a:r>
            <a:endParaRPr lang="es-MX" sz="1100" b="1" dirty="0" smtClean="0">
              <a:solidFill>
                <a:srgbClr val="000000"/>
              </a:solidFill>
              <a:latin typeface="Aptos" panose="020B0604020202020204" charset="0"/>
            </a:endParaRPr>
          </a:p>
          <a:p>
            <a:pPr marL="171450" indent="-171450" algn="just" fontAlgn="base">
              <a:buFont typeface="Arial" panose="020B0604020202020204" pitchFamily="34" charset="0"/>
              <a:buChar char="•"/>
            </a:pPr>
            <a:endParaRPr lang="es-MX" sz="1100" b="1" dirty="0">
              <a:solidFill>
                <a:srgbClr val="000000"/>
              </a:solidFill>
              <a:latin typeface="Aptos" panose="020B0604020202020204" charset="0"/>
            </a:endParaRPr>
          </a:p>
          <a:p>
            <a:pPr marL="171450" indent="-171450" algn="just" fontAlgn="base">
              <a:buFont typeface="Arial" panose="020B0604020202020204" pitchFamily="34" charset="0"/>
              <a:buChar char="•"/>
            </a:pPr>
            <a:r>
              <a:rPr lang="es-MX" sz="1100" dirty="0" smtClean="0">
                <a:solidFill>
                  <a:srgbClr val="000000"/>
                </a:solidFill>
                <a:latin typeface="Aptos" panose="020B0604020202020204" charset="0"/>
              </a:rPr>
              <a:t>2027: </a:t>
            </a:r>
            <a:r>
              <a:rPr lang="es-MX" sz="1100" dirty="0" smtClean="0">
                <a:solidFill>
                  <a:srgbClr val="000000"/>
                </a:solidFill>
                <a:latin typeface="Aptos" panose="020B0604020202020204" charset="0"/>
              </a:rPr>
              <a:t>40 tiendas, 650 cajas </a:t>
            </a:r>
            <a:r>
              <a:rPr lang="es-MX" sz="1100" dirty="0" smtClean="0">
                <a:solidFill>
                  <a:srgbClr val="000000"/>
                </a:solidFill>
                <a:latin typeface="Aptos" panose="020B0604020202020204" charset="0"/>
              </a:rPr>
              <a:t>del </a:t>
            </a:r>
            <a:r>
              <a:rPr lang="es-MX" sz="1100" dirty="0">
                <a:solidFill>
                  <a:srgbClr val="000000"/>
                </a:solidFill>
                <a:latin typeface="Aptos" panose="020B0604020202020204" charset="0"/>
              </a:rPr>
              <a:t>modelo 1000 y 2000 (13 – 14 años de antigüedad).</a:t>
            </a:r>
            <a:endParaRPr lang="es-MX" sz="1100" dirty="0" smtClean="0">
              <a:solidFill>
                <a:srgbClr val="000000"/>
              </a:solidFill>
              <a:latin typeface="Apto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56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1"/>
          <p:cNvSpPr txBox="1"/>
          <p:nvPr/>
        </p:nvSpPr>
        <p:spPr>
          <a:xfrm>
            <a:off x="714703" y="763562"/>
            <a:ext cx="11133996" cy="335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Equipos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sz="2250" b="1" dirty="0" err="1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C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ambio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de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cajas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&amp;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impacto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en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digitados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 Food y Non Food</a:t>
            </a:r>
            <a:endParaRPr lang="en-US" sz="2250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899" t="1" r="5339" b="64358"/>
          <a:stretch/>
        </p:blipFill>
        <p:spPr>
          <a:xfrm>
            <a:off x="444500" y="1386039"/>
            <a:ext cx="11303000" cy="230966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03" y="4183642"/>
            <a:ext cx="5109277" cy="2445603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570" y="4232712"/>
            <a:ext cx="5418249" cy="2396533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10812766" y="2698529"/>
            <a:ext cx="77605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s-MX" sz="1100" b="1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s-MX" sz="1100" b="1" dirty="0" smtClean="0">
                <a:solidFill>
                  <a:srgbClr val="0070C0"/>
                </a:solidFill>
                <a:latin typeface="Aptos" panose="020B0604020202020204" charset="0"/>
              </a:rPr>
              <a:t>52%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9396248" y="2196288"/>
            <a:ext cx="77605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s-MX" sz="1100" b="1" dirty="0" smtClean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r>
              <a:rPr lang="es-MX" sz="1100" b="1" dirty="0" smtClean="0">
                <a:solidFill>
                  <a:srgbClr val="0070C0"/>
                </a:solidFill>
                <a:latin typeface="Aptos" panose="020B0604020202020204" charset="0"/>
              </a:rPr>
              <a:t>35%</a:t>
            </a:r>
          </a:p>
        </p:txBody>
      </p:sp>
    </p:spTree>
    <p:extLst>
      <p:ext uri="{BB962C8B-B14F-4D97-AF65-F5344CB8AC3E}">
        <p14:creationId xmlns:p14="http://schemas.microsoft.com/office/powerpoint/2010/main" val="382260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/>
          <p:nvPr/>
        </p:nvSpPr>
        <p:spPr>
          <a:xfrm>
            <a:off x="918444" y="654923"/>
            <a:ext cx="1048720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Materiales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Bolsas</a:t>
            </a:r>
            <a:endParaRPr lang="en-US" sz="2250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5" t="8595" r="77210" b="63466"/>
          <a:stretch/>
        </p:blipFill>
        <p:spPr>
          <a:xfrm>
            <a:off x="5662449" y="618342"/>
            <a:ext cx="1607419" cy="157621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68" t="39022" r="8298" b="49385"/>
          <a:stretch/>
        </p:blipFill>
        <p:spPr>
          <a:xfrm>
            <a:off x="918444" y="1115097"/>
            <a:ext cx="4736780" cy="875899"/>
          </a:xfrm>
          <a:prstGeom prst="rect">
            <a:avLst/>
          </a:prstGeom>
        </p:spPr>
      </p:pic>
      <p:pic>
        <p:nvPicPr>
          <p:cNvPr id="6" name="MicrosoftTeams-video (6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7214883" y="2489671"/>
            <a:ext cx="2087482" cy="3345121"/>
          </a:xfrm>
          <a:prstGeom prst="rect">
            <a:avLst/>
          </a:prstGeom>
        </p:spPr>
      </p:pic>
      <p:pic>
        <p:nvPicPr>
          <p:cNvPr id="7" name="MicrosoftTeams-video (5)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570188" y="2501703"/>
            <a:ext cx="2076380" cy="3345121"/>
          </a:xfrm>
          <a:prstGeom prst="rect">
            <a:avLst/>
          </a:prstGeom>
        </p:spPr>
      </p:pic>
      <p:pic>
        <p:nvPicPr>
          <p:cNvPr id="8" name="MicrosoftTeams-video (7)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918444" y="2531752"/>
            <a:ext cx="2100567" cy="3345121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7835940" y="1692565"/>
            <a:ext cx="16405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 smtClean="0"/>
              <a:t>Escaneo de Bolsa</a:t>
            </a:r>
            <a:endParaRPr lang="es-PE" sz="1600" b="1" dirty="0"/>
          </a:p>
        </p:txBody>
      </p:sp>
      <p:sp>
        <p:nvSpPr>
          <p:cNvPr id="10" name="CuadroTexto 9"/>
          <p:cNvSpPr txBox="1"/>
          <p:nvPr/>
        </p:nvSpPr>
        <p:spPr>
          <a:xfrm>
            <a:off x="5456021" y="2037448"/>
            <a:ext cx="1527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 smtClean="0"/>
              <a:t>PVV - La Molina</a:t>
            </a:r>
            <a:endParaRPr lang="es-PE" sz="1600" b="1" dirty="0"/>
          </a:p>
        </p:txBody>
      </p:sp>
      <p:sp>
        <p:nvSpPr>
          <p:cNvPr id="11" name="CuadroTexto 10"/>
          <p:cNvSpPr txBox="1"/>
          <p:nvPr/>
        </p:nvSpPr>
        <p:spPr>
          <a:xfrm>
            <a:off x="7164691" y="2031119"/>
            <a:ext cx="1502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 smtClean="0"/>
              <a:t>PVV - San Borja</a:t>
            </a:r>
            <a:endParaRPr lang="es-PE" sz="1600" b="1" dirty="0"/>
          </a:p>
        </p:txBody>
      </p:sp>
      <p:sp>
        <p:nvSpPr>
          <p:cNvPr id="12" name="CuadroTexto 11"/>
          <p:cNvSpPr txBox="1"/>
          <p:nvPr/>
        </p:nvSpPr>
        <p:spPr>
          <a:xfrm>
            <a:off x="9570188" y="1961426"/>
            <a:ext cx="13773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 smtClean="0"/>
              <a:t>Wong – KM40</a:t>
            </a:r>
            <a:endParaRPr lang="es-PE" sz="1600" b="1" dirty="0"/>
          </a:p>
        </p:txBody>
      </p:sp>
      <p:pic>
        <p:nvPicPr>
          <p:cNvPr id="13" name="MicrosoftTeams-video (8)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4964063" y="2477103"/>
            <a:ext cx="1964827" cy="3493025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918444" y="2096780"/>
            <a:ext cx="19561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 smtClean="0"/>
              <a:t>Tecla rápida de bolsa</a:t>
            </a:r>
            <a:endParaRPr lang="es-PE" sz="1600" b="1" dirty="0"/>
          </a:p>
        </p:txBody>
      </p:sp>
      <p:sp>
        <p:nvSpPr>
          <p:cNvPr id="15" name="CuadroTexto 14"/>
          <p:cNvSpPr txBox="1"/>
          <p:nvPr/>
        </p:nvSpPr>
        <p:spPr>
          <a:xfrm>
            <a:off x="1002913" y="1096447"/>
            <a:ext cx="455567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PE" sz="1600" b="1" dirty="0" smtClean="0"/>
              <a:t>Uso de tecla rápida bolsas</a:t>
            </a:r>
            <a:endParaRPr lang="es-PE" sz="1600" b="1" dirty="0"/>
          </a:p>
        </p:txBody>
      </p:sp>
    </p:spTree>
    <p:extLst>
      <p:ext uri="{BB962C8B-B14F-4D97-AF65-F5344CB8AC3E}">
        <p14:creationId xmlns:p14="http://schemas.microsoft.com/office/powerpoint/2010/main" val="103039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621152" y="1253134"/>
            <a:ext cx="2079057" cy="3696102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97274" y="1249841"/>
            <a:ext cx="2087525" cy="3711155"/>
          </a:xfrm>
          <a:prstGeom prst="rect">
            <a:avLst/>
          </a:prstGeom>
        </p:spPr>
      </p:pic>
      <p:sp>
        <p:nvSpPr>
          <p:cNvPr id="4" name="TextBox 11"/>
          <p:cNvSpPr txBox="1"/>
          <p:nvPr/>
        </p:nvSpPr>
        <p:spPr>
          <a:xfrm>
            <a:off x="918444" y="654923"/>
            <a:ext cx="1048720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799"/>
              </a:lnSpc>
            </a:pP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Materiales</a:t>
            </a:r>
            <a:r>
              <a:rPr lang="en-US" sz="2250" b="1" dirty="0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: </a:t>
            </a:r>
            <a:r>
              <a:rPr lang="en-US" sz="2250" b="1" dirty="0" err="1" smtClean="0">
                <a:solidFill>
                  <a:srgbClr val="E2202E"/>
                </a:solidFill>
                <a:latin typeface="Aptos Bold"/>
                <a:ea typeface="Aptos Bold"/>
                <a:cs typeface="Aptos Bold"/>
                <a:sym typeface="Aptos Bold"/>
              </a:rPr>
              <a:t>Bolsas</a:t>
            </a:r>
            <a:endParaRPr lang="en-US" sz="2250" b="1" dirty="0">
              <a:solidFill>
                <a:srgbClr val="E2202E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56326" y="1444564"/>
            <a:ext cx="2789518" cy="270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Modelo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bolsa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wong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4947589" y="1444564"/>
            <a:ext cx="2789518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81"/>
              </a:lnSpc>
            </a:pP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Modelo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de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bolsa</a:t>
            </a:r>
            <a:r>
              <a:rPr lang="en-US" sz="1100" b="1" dirty="0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Plaza </a:t>
            </a:r>
            <a:r>
              <a:rPr lang="en-US" sz="1100" b="1" dirty="0" err="1" smtClean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Vea</a:t>
            </a:r>
            <a:endParaRPr lang="en-US" sz="11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37468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1CFC1-D247-C693-E122-809AF417B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D23916C2-8E7C-3C9D-2FD4-9E6D1570E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38" y="2232464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PE" sz="9600" b="1" dirty="0">
                <a:solidFill>
                  <a:schemeClr val="bg1"/>
                </a:solidFill>
                <a:latin typeface="Arial Black"/>
              </a:rPr>
              <a:t> </a:t>
            </a:r>
            <a:r>
              <a:rPr lang="es-PE" sz="9600" b="1" dirty="0">
                <a:latin typeface="Arial Black" panose="020B0A04020102020204" pitchFamily="34" charset="0"/>
              </a:rPr>
              <a:t/>
            </a:r>
            <a:br>
              <a:rPr lang="es-PE" sz="9600" b="1" dirty="0">
                <a:latin typeface="Arial Black" panose="020B0A04020102020204" pitchFamily="34" charset="0"/>
              </a:rPr>
            </a:br>
            <a:r>
              <a:rPr lang="es-PE" sz="9600" b="1" dirty="0">
                <a:latin typeface="Arial Black" panose="020B0A04020102020204" pitchFamily="34" charset="0"/>
              </a:rPr>
              <a:t/>
            </a:r>
            <a:br>
              <a:rPr lang="es-PE" sz="9600" b="1" dirty="0">
                <a:latin typeface="Arial Black" panose="020B0A04020102020204" pitchFamily="34" charset="0"/>
              </a:rPr>
            </a:br>
            <a:r>
              <a:rPr lang="es-PE" sz="7200" b="1" dirty="0" smtClean="0">
                <a:solidFill>
                  <a:schemeClr val="bg1"/>
                </a:solidFill>
                <a:latin typeface="Arial Black"/>
              </a:rPr>
              <a:t>Gracias!</a:t>
            </a:r>
            <a:endParaRPr lang="es-PE" sz="7200" b="1" dirty="0">
              <a:solidFill>
                <a:schemeClr val="bg1"/>
              </a:solidFill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E8A91A2D-D9C3-BE67-8BAB-20A409B97CDC}"/>
              </a:ext>
            </a:extLst>
          </p:cNvPr>
          <p:cNvGrpSpPr/>
          <p:nvPr/>
        </p:nvGrpSpPr>
        <p:grpSpPr>
          <a:xfrm>
            <a:off x="10555663" y="242499"/>
            <a:ext cx="1434718" cy="553375"/>
            <a:chOff x="5368286" y="5906706"/>
            <a:chExt cx="2381250" cy="951293"/>
          </a:xfrm>
        </p:grpSpPr>
        <p:pic>
          <p:nvPicPr>
            <p:cNvPr id="5" name="Picture 4" descr="Vivanda/Logos variantes | Logopedia | Fandom">
              <a:extLst>
                <a:ext uri="{FF2B5EF4-FFF2-40B4-BE49-F238E27FC236}">
                  <a16:creationId xmlns:a16="http://schemas.microsoft.com/office/drawing/2014/main" id="{41E2CC45-9B29-67FB-2775-938414DE49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8286" y="5906706"/>
              <a:ext cx="2381250" cy="951293"/>
            </a:xfrm>
            <a:prstGeom prst="round2SameRect">
              <a:avLst>
                <a:gd name="adj1" fmla="val 28862"/>
                <a:gd name="adj2" fmla="val 0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EA184C99-1A58-D4B5-AE6F-11DFC35E60D7}"/>
                </a:ext>
              </a:extLst>
            </p:cNvPr>
            <p:cNvSpPr/>
            <p:nvPr/>
          </p:nvSpPr>
          <p:spPr>
            <a:xfrm>
              <a:off x="5527343" y="6045957"/>
              <a:ext cx="2074460" cy="767317"/>
            </a:xfrm>
            <a:prstGeom prst="rect">
              <a:avLst/>
            </a:prstGeom>
            <a:solidFill>
              <a:srgbClr val="007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7" name="Picture 4" descr="Vivanda/Logos variantes | Logopedia | Fandom">
              <a:extLst>
                <a:ext uri="{FF2B5EF4-FFF2-40B4-BE49-F238E27FC236}">
                  <a16:creationId xmlns:a16="http://schemas.microsoft.com/office/drawing/2014/main" id="{2E477AD2-B6AB-C00A-1A7D-823DFB9BC2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0" r="7389"/>
            <a:stretch/>
          </p:blipFill>
          <p:spPr bwMode="auto">
            <a:xfrm>
              <a:off x="5770139" y="5916940"/>
              <a:ext cx="1577543" cy="906567"/>
            </a:xfrm>
            <a:prstGeom prst="round2SameRect">
              <a:avLst>
                <a:gd name="adj1" fmla="val 28862"/>
                <a:gd name="adj2" fmla="val 0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Imagen 3">
            <a:extLst>
              <a:ext uri="{FF2B5EF4-FFF2-40B4-BE49-F238E27FC236}">
                <a16:creationId xmlns:a16="http://schemas.microsoft.com/office/drawing/2014/main" id="{958AF5DF-AF2D-17D6-5DF8-7B2AC4DD21E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82" t="86335" r="11362"/>
          <a:stretch/>
        </p:blipFill>
        <p:spPr bwMode="auto">
          <a:xfrm>
            <a:off x="8953972" y="200074"/>
            <a:ext cx="1583140" cy="575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4143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21349</TotalTime>
  <Words>586</Words>
  <Application>Microsoft Office PowerPoint</Application>
  <PresentationFormat>Panorámica</PresentationFormat>
  <Paragraphs>94</Paragraphs>
  <Slides>15</Slides>
  <Notes>3</Notes>
  <HiddenSlides>0</HiddenSlides>
  <MMClips>4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Aptos</vt:lpstr>
      <vt:lpstr>Aptos Bold</vt:lpstr>
      <vt:lpstr>Arial</vt:lpstr>
      <vt:lpstr>Arial Black</vt:lpstr>
      <vt:lpstr>Calibri</vt:lpstr>
      <vt:lpstr>Calibri Light</vt:lpstr>
      <vt:lpstr>Tema de Office</vt:lpstr>
      <vt:lpstr>   Productividad en Caja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 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Rosa Renteria</dc:creator>
  <cp:lastModifiedBy>Rosa Renteria</cp:lastModifiedBy>
  <cp:revision>96</cp:revision>
  <cp:lastPrinted>2026-06-09T16:02:02Z</cp:lastPrinted>
  <dcterms:created xsi:type="dcterms:W3CDTF">2026-06-02T12:04:23Z</dcterms:created>
  <dcterms:modified xsi:type="dcterms:W3CDTF">2026-06-17T15:02:40Z</dcterms:modified>
</cp:coreProperties>
</file>