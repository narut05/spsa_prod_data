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hart1.xml" ContentType="application/vnd.openxmlformats-officedocument.drawingml.chart+xml"/>
  <Override PartName="/ppt/charts/colors2.xml" ContentType="application/vnd.ms-office.chartcolorstyle+xml"/>
  <Override PartName="/ppt/charts/style3.xml" ContentType="application/vnd.ms-office.chartstyle+xml"/>
  <Override PartName="/ppt/charts/chart3.xml" ContentType="application/vnd.openxmlformats-officedocument.drawingml.chart+xml"/>
  <Override PartName="/ppt/charts/colors3.xml" ContentType="application/vnd.ms-office.chartcolorstyl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59" r:id="rId3"/>
    <p:sldId id="258" r:id="rId4"/>
    <p:sldId id="260" r:id="rId5"/>
    <p:sldId id="262" r:id="rId6"/>
    <p:sldId id="261" r:id="rId7"/>
  </p:sldIdLst>
  <p:sldSz cx="12192000" cy="6858000"/>
  <p:notesSz cx="6797675" cy="9928225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252" y="-4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4" Type="http://schemas.openxmlformats.org/officeDocument/2006/relationships/customXml" Target="../customXml/item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intercorpretail-my.sharepoint.com/personal/rosa_renteria_plazavea_pe/Documents/Documentos/02.Productividad%20Data/Velocidad/Optimus01%20(Autoguardado)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intercorpretail-my.sharepoint.com/personal/rosa_renteria_plazavea_pe/Documents/Documentos/02.Productividad%20Data/Velocidad/Optimus01%20(Autoguardado)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intercorpretail-my.sharepoint.com/personal/rosa_renteria_plazavea_pe/Documents/Documentos/02.Productividad%20Data/Velocidad/Optimus01%20(Autoguardado)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1049725359221206E-2"/>
          <c:y val="6.8126546784890621E-2"/>
          <c:w val="0.97790054928155756"/>
          <c:h val="0.65916211452665951"/>
        </c:manualLayout>
      </c:layout>
      <c:lineChart>
        <c:grouping val="standard"/>
        <c:varyColors val="0"/>
        <c:ser>
          <c:idx val="1"/>
          <c:order val="0"/>
          <c:tx>
            <c:strRef>
              <c:f>Velocidad!$C$3</c:f>
              <c:strCache>
                <c:ptCount val="1"/>
                <c:pt idx="0">
                  <c:v>2025</c:v>
                </c:pt>
              </c:strCache>
            </c:strRef>
          </c:tx>
          <c:spPr>
            <a:ln w="25400" cap="rnd">
              <a:solidFill>
                <a:schemeClr val="accent1">
                  <a:lumMod val="75000"/>
                </a:schemeClr>
              </a:solidFill>
              <a:round/>
            </a:ln>
            <a:effectLst/>
          </c:spPr>
          <c:marker>
            <c:symbol val="diamond"/>
            <c:size val="5"/>
            <c:spPr>
              <a:solidFill>
                <a:schemeClr val="accent1">
                  <a:lumMod val="40000"/>
                  <a:lumOff val="60000"/>
                </a:schemeClr>
              </a:solidFill>
              <a:ln w="9525">
                <a:solidFill>
                  <a:schemeClr val="accent1">
                    <a:lumMod val="40000"/>
                    <a:lumOff val="60000"/>
                  </a:schemeClr>
                </a:solidFill>
                <a:round/>
              </a:ln>
              <a:effectLst/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marker>
          <c:dLbls>
            <c:dLbl>
              <c:idx val="0"/>
              <c:layout>
                <c:manualLayout>
                  <c:x val="-5.9850510009389617E-2"/>
                  <c:y val="-3.730504807798292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17-42B2-484A-A778-D12B9373C1BD}"/>
                </c:ext>
              </c:extLst>
            </c:dLbl>
            <c:dLbl>
              <c:idx val="2"/>
              <c:layout>
                <c:manualLayout>
                  <c:x val="-5.5248626796106032E-3"/>
                  <c:y val="-1.946472765282589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8-42B2-484A-A778-D12B9373C1BD}"/>
                </c:ext>
              </c:extLst>
            </c:dLbl>
            <c:dLbl>
              <c:idx val="3"/>
              <c:layout>
                <c:manualLayout>
                  <c:x val="-2.5782692504849516E-2"/>
                  <c:y val="4.379563721885825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9-42B2-484A-A778-D12B9373C1BD}"/>
                </c:ext>
              </c:extLst>
            </c:dLbl>
            <c:dLbl>
              <c:idx val="4"/>
              <c:layout>
                <c:manualLayout>
                  <c:x val="-3.3149176077663621E-2"/>
                  <c:y val="4.379563721885825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A-42B2-484A-A778-D12B9373C1BD}"/>
                </c:ext>
              </c:extLst>
            </c:dLbl>
            <c:dLbl>
              <c:idx val="5"/>
              <c:layout>
                <c:manualLayout>
                  <c:x val="-2.9465934291256549E-2"/>
                  <c:y val="5.352800104527120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B-42B2-484A-A778-D12B9373C1BD}"/>
                </c:ext>
              </c:extLst>
            </c:dLbl>
            <c:dLbl>
              <c:idx val="6"/>
              <c:layout>
                <c:manualLayout>
                  <c:x val="-1.6574588038831876E-2"/>
                  <c:y val="5.839418295847767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C-42B2-484A-A778-D12B9373C1BD}"/>
                </c:ext>
              </c:extLst>
            </c:dLbl>
            <c:dLbl>
              <c:idx val="7"/>
              <c:layout>
                <c:manualLayout>
                  <c:x val="-2.7624313398053015E-2"/>
                  <c:y val="6.812654678489062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D-42B2-484A-A778-D12B9373C1BD}"/>
                </c:ext>
              </c:extLst>
            </c:dLbl>
            <c:dLbl>
              <c:idx val="8"/>
              <c:layout>
                <c:manualLayout>
                  <c:x val="-2.2099450718442413E-2"/>
                  <c:y val="4.379563721885816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E-42B2-484A-A778-D12B9373C1BD}"/>
                </c:ext>
              </c:extLst>
            </c:dLbl>
            <c:dLbl>
              <c:idx val="9"/>
              <c:layout>
                <c:manualLayout>
                  <c:x val="-2.9465934291256549E-2"/>
                  <c:y val="-5.352800104527120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F-42B2-484A-A778-D12B9373C1BD}"/>
                </c:ext>
              </c:extLst>
            </c:dLbl>
            <c:dLbl>
              <c:idx val="10"/>
              <c:layout>
                <c:manualLayout>
                  <c:x val="-2.7624313398053015E-2"/>
                  <c:y val="-5.839418295847776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10-42B2-484A-A778-D12B9373C1BD}"/>
                </c:ext>
              </c:extLst>
            </c:dLbl>
            <c:dLbl>
              <c:idx val="11"/>
              <c:layout>
                <c:manualLayout>
                  <c:x val="-2.5782692504849481E-2"/>
                  <c:y val="-4.866181913206472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11-42B2-484A-A778-D12B9373C1B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P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Velocidad!$A$4:$A$15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Set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Velocidad!$C$4:$C$15</c:f>
              <c:numCache>
                <c:formatCode>0.0</c:formatCode>
                <c:ptCount val="12"/>
                <c:pt idx="0">
                  <c:v>12.14</c:v>
                </c:pt>
                <c:pt idx="1">
                  <c:v>12.28</c:v>
                </c:pt>
                <c:pt idx="2">
                  <c:v>12.59</c:v>
                </c:pt>
                <c:pt idx="3">
                  <c:v>12.45</c:v>
                </c:pt>
                <c:pt idx="4">
                  <c:v>12.49</c:v>
                </c:pt>
                <c:pt idx="5">
                  <c:v>12.21</c:v>
                </c:pt>
                <c:pt idx="6">
                  <c:v>12.71</c:v>
                </c:pt>
                <c:pt idx="7">
                  <c:v>12.66</c:v>
                </c:pt>
                <c:pt idx="8">
                  <c:v>12.74</c:v>
                </c:pt>
                <c:pt idx="9">
                  <c:v>12.96</c:v>
                </c:pt>
                <c:pt idx="10">
                  <c:v>12.88</c:v>
                </c:pt>
                <c:pt idx="11">
                  <c:v>12.67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2-42B2-484A-A778-D12B9373C1BD}"/>
            </c:ext>
          </c:extLst>
        </c:ser>
        <c:ser>
          <c:idx val="2"/>
          <c:order val="1"/>
          <c:tx>
            <c:strRef>
              <c:f>Velocidad!$D$3</c:f>
              <c:strCache>
                <c:ptCount val="1"/>
                <c:pt idx="0">
                  <c:v>2026</c:v>
                </c:pt>
              </c:strCache>
            </c:strRef>
          </c:tx>
          <c:spPr>
            <a:ln w="25400" cap="rnd">
              <a:solidFill>
                <a:srgbClr val="FF0000"/>
              </a:solidFill>
              <a:round/>
            </a:ln>
            <a:effectLst/>
          </c:spPr>
          <c:marker>
            <c:symbol val="diamond"/>
            <c:size val="5"/>
            <c:spPr>
              <a:solidFill>
                <a:schemeClr val="accent2">
                  <a:lumMod val="60000"/>
                  <a:lumOff val="40000"/>
                </a:schemeClr>
              </a:solidFill>
              <a:ln w="9525">
                <a:solidFill>
                  <a:srgbClr val="FF0000"/>
                </a:solidFill>
                <a:round/>
              </a:ln>
              <a:effectLst/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marker>
          <c:dLbls>
            <c:dLbl>
              <c:idx val="0"/>
              <c:layout>
                <c:manualLayout>
                  <c:x val="-3.6022104671061136E-2"/>
                  <c:y val="2.680040109600201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13-42B2-484A-A778-D12B9373C1B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PE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Velocidad!$A$4:$A$15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Set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Velocidad!$D$4:$D$15</c:f>
              <c:numCache>
                <c:formatCode>_-* #,##0.0_-;\-* #,##0.0_-;_-* "-"??_-;_-@_-</c:formatCode>
                <c:ptCount val="12"/>
                <c:pt idx="0">
                  <c:v>11.75</c:v>
                </c:pt>
                <c:pt idx="1">
                  <c:v>12.39</c:v>
                </c:pt>
                <c:pt idx="2">
                  <c:v>12.96</c:v>
                </c:pt>
                <c:pt idx="3">
                  <c:v>13.11</c:v>
                </c:pt>
                <c:pt idx="4">
                  <c:v>13.17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4-42B2-484A-A778-D12B9373C1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24013407"/>
        <c:axId val="524010911"/>
      </c:lineChart>
      <c:lineChart>
        <c:grouping val="standard"/>
        <c:varyColors val="0"/>
        <c:ser>
          <c:idx val="4"/>
          <c:order val="2"/>
          <c:tx>
            <c:strRef>
              <c:f>Velocidad!$F$3</c:f>
              <c:strCache>
                <c:ptCount val="1"/>
                <c:pt idx="0">
                  <c:v>var 26 vs 25</c:v>
                </c:pt>
              </c:strCache>
            </c:strRef>
          </c:tx>
          <c:spPr>
            <a:ln w="34925" cap="rnd">
              <a:noFill/>
              <a:round/>
            </a:ln>
            <a:effectLst/>
          </c:spPr>
          <c:marker>
            <c:symbol val="diamond"/>
            <c:size val="7"/>
            <c:spPr>
              <a:solidFill>
                <a:schemeClr val="accent2">
                  <a:lumMod val="60000"/>
                  <a:lumOff val="40000"/>
                </a:schemeClr>
              </a:solidFill>
              <a:ln w="9525">
                <a:solidFill>
                  <a:schemeClr val="accent2">
                    <a:lumMod val="40000"/>
                    <a:lumOff val="60000"/>
                  </a:schemeClr>
                </a:solidFill>
                <a:round/>
              </a:ln>
              <a:effectLst/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P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Velocidad!$A$4:$A$15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Set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Velocidad!$F$4:$F$15</c:f>
              <c:numCache>
                <c:formatCode>0%</c:formatCode>
                <c:ptCount val="12"/>
                <c:pt idx="0">
                  <c:v>-3.2125205930807255E-2</c:v>
                </c:pt>
                <c:pt idx="1">
                  <c:v>8.9576547231271508E-3</c:v>
                </c:pt>
                <c:pt idx="2">
                  <c:v>2.938840349483729E-2</c:v>
                </c:pt>
                <c:pt idx="3">
                  <c:v>5.3012048192771166E-2</c:v>
                </c:pt>
                <c:pt idx="4">
                  <c:v>5.4443554843875086E-2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6-42B2-484A-A778-D12B9373C1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98156191"/>
        <c:axId val="898155359"/>
      </c:lineChart>
      <c:catAx>
        <c:axId val="5240134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PE"/>
          </a:p>
        </c:txPr>
        <c:crossAx val="524010911"/>
        <c:crosses val="autoZero"/>
        <c:auto val="1"/>
        <c:lblAlgn val="ctr"/>
        <c:lblOffset val="100"/>
        <c:noMultiLvlLbl val="0"/>
      </c:catAx>
      <c:valAx>
        <c:axId val="524010911"/>
        <c:scaling>
          <c:orientation val="minMax"/>
          <c:max val="16"/>
          <c:min val="11"/>
        </c:scaling>
        <c:delete val="0"/>
        <c:axPos val="l"/>
        <c:numFmt formatCode="0.0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PE"/>
          </a:p>
        </c:txPr>
        <c:crossAx val="524013407"/>
        <c:crosses val="autoZero"/>
        <c:crossBetween val="between"/>
      </c:valAx>
      <c:valAx>
        <c:axId val="898155359"/>
        <c:scaling>
          <c:orientation val="minMax"/>
          <c:max val="7.0000000000000007E-2"/>
          <c:min val="-0.4"/>
        </c:scaling>
        <c:delete val="0"/>
        <c:axPos val="r"/>
        <c:numFmt formatCode="0%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PE"/>
          </a:p>
        </c:txPr>
        <c:crossAx val="898156191"/>
        <c:crosses val="max"/>
        <c:crossBetween val="between"/>
      </c:valAx>
      <c:catAx>
        <c:axId val="898156191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898155359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4063200973298507"/>
          <c:y val="0.86647106280729358"/>
          <c:w val="0.51873582353014136"/>
          <c:h val="0.1335289371927063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PE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1000"/>
      </a:pPr>
      <a:endParaRPr lang="es-PE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Cobertura!$B$5</c:f>
              <c:strCache>
                <c:ptCount val="1"/>
                <c:pt idx="0">
                  <c:v>Efectividad Pronóstico 2026</c:v>
                </c:pt>
              </c:strCache>
            </c:strRef>
          </c:tx>
          <c:spPr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PE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Cobertura!$A$6:$A$10</c:f>
              <c:strCache>
                <c:ptCount val="5"/>
                <c:pt idx="0">
                  <c:v>Enero</c:v>
                </c:pt>
                <c:pt idx="1">
                  <c:v>Febrero</c:v>
                </c:pt>
                <c:pt idx="2">
                  <c:v>Marzo</c:v>
                </c:pt>
                <c:pt idx="3">
                  <c:v>Abril</c:v>
                </c:pt>
                <c:pt idx="4">
                  <c:v>Mayo</c:v>
                </c:pt>
              </c:strCache>
            </c:strRef>
          </c:cat>
          <c:val>
            <c:numRef>
              <c:f>Cobertura!$B$6:$B$10</c:f>
              <c:numCache>
                <c:formatCode>0%</c:formatCode>
                <c:ptCount val="5"/>
                <c:pt idx="0">
                  <c:v>1.1399999999999999</c:v>
                </c:pt>
                <c:pt idx="1">
                  <c:v>1.06</c:v>
                </c:pt>
                <c:pt idx="2">
                  <c:v>1.01</c:v>
                </c:pt>
                <c:pt idx="3">
                  <c:v>0.96</c:v>
                </c:pt>
                <c:pt idx="4">
                  <c:v>1.06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DE9-4E90-AB24-83DF9DB792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76787535"/>
        <c:axId val="876783375"/>
      </c:barChart>
      <c:lineChart>
        <c:grouping val="standard"/>
        <c:varyColors val="0"/>
        <c:ser>
          <c:idx val="1"/>
          <c:order val="1"/>
          <c:tx>
            <c:strRef>
              <c:f>Cobertura!$C$5</c:f>
              <c:strCache>
                <c:ptCount val="1"/>
                <c:pt idx="0">
                  <c:v>Cobertura Teórica</c:v>
                </c:pt>
              </c:strCache>
            </c:strRef>
          </c:tx>
          <c:spPr>
            <a:ln w="25400" cap="rnd">
              <a:solidFill>
                <a:schemeClr val="accent5">
                  <a:lumMod val="75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>
                  <a:lumMod val="75000"/>
                </a:schemeClr>
              </a:solidFill>
              <a:ln w="9525">
                <a:solidFill>
                  <a:schemeClr val="tx2">
                    <a:lumMod val="20000"/>
                    <a:lumOff val="80000"/>
                  </a:schemeClr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9.0844017668523167E-2"/>
                  <c:y val="-2.5786370944470118E-3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8DE9-4E90-AB24-83DF9DB79257}"/>
                </c:ext>
              </c:extLst>
            </c:dLbl>
            <c:dLbl>
              <c:idx val="2"/>
              <c:layout>
                <c:manualLayout>
                  <c:x val="-8.6941578644132891E-2"/>
                  <c:y val="1.31281691882755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2-8DE9-4E90-AB24-83DF9DB79257}"/>
                </c:ext>
              </c:extLst>
            </c:dLbl>
            <c:dLbl>
              <c:idx val="3"/>
              <c:layout>
                <c:manualLayout>
                  <c:x val="-6.2980603034376803E-2"/>
                  <c:y val="7.8925670940347119E-3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8DE9-4E90-AB24-83DF9DB79257}"/>
                </c:ext>
              </c:extLst>
            </c:dLbl>
            <c:dLbl>
              <c:idx val="4"/>
              <c:layout>
                <c:manualLayout>
                  <c:x val="-7.6639139619742655E-2"/>
                  <c:y val="3.407057756523880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4-8DE9-4E90-AB24-83DF9DB7925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PE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Cobertura!$A$6:$A$10</c:f>
              <c:strCache>
                <c:ptCount val="5"/>
                <c:pt idx="0">
                  <c:v>Enero</c:v>
                </c:pt>
                <c:pt idx="1">
                  <c:v>Febrero</c:v>
                </c:pt>
                <c:pt idx="2">
                  <c:v>Marzo</c:v>
                </c:pt>
                <c:pt idx="3">
                  <c:v>Abril</c:v>
                </c:pt>
                <c:pt idx="4">
                  <c:v>Mayo</c:v>
                </c:pt>
              </c:strCache>
            </c:strRef>
          </c:cat>
          <c:val>
            <c:numRef>
              <c:f>Cobertura!$C$6:$C$10</c:f>
              <c:numCache>
                <c:formatCode>0%</c:formatCode>
                <c:ptCount val="5"/>
                <c:pt idx="0">
                  <c:v>1.04</c:v>
                </c:pt>
                <c:pt idx="1">
                  <c:v>1.1000000000000001</c:v>
                </c:pt>
                <c:pt idx="2">
                  <c:v>1.02</c:v>
                </c:pt>
                <c:pt idx="3">
                  <c:v>0.91</c:v>
                </c:pt>
                <c:pt idx="4">
                  <c:v>0.88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8DE9-4E90-AB24-83DF9DB79257}"/>
            </c:ext>
          </c:extLst>
        </c:ser>
        <c:ser>
          <c:idx val="2"/>
          <c:order val="2"/>
          <c:tx>
            <c:strRef>
              <c:f>Cobertura!$D$5</c:f>
              <c:strCache>
                <c:ptCount val="1"/>
                <c:pt idx="0">
                  <c:v>Cobertura Ácida</c:v>
                </c:pt>
              </c:strCache>
            </c:strRef>
          </c:tx>
          <c:spPr>
            <a:ln w="25400" cap="rnd">
              <a:solidFill>
                <a:srgbClr val="C0000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accent2">
                    <a:lumMod val="75000"/>
                  </a:schemeClr>
                </a:solidFill>
              </a:ln>
              <a:effectLst/>
            </c:spPr>
          </c:marker>
          <c:dLbls>
            <c:dLbl>
              <c:idx val="1"/>
              <c:layout>
                <c:manualLayout>
                  <c:x val="-7.5234261570962163E-2"/>
                  <c:y val="4.454178175372052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6-8DE9-4E90-AB24-83DF9DB79257}"/>
                </c:ext>
              </c:extLst>
            </c:dLbl>
            <c:dLbl>
              <c:idx val="4"/>
              <c:layout>
                <c:manualLayout>
                  <c:x val="-8.0541578644132902E-2"/>
                  <c:y val="-5.493465803685534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7-8DE9-4E90-AB24-83DF9DB7925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PE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Cobertura!$A$6:$A$10</c:f>
              <c:strCache>
                <c:ptCount val="5"/>
                <c:pt idx="0">
                  <c:v>Enero</c:v>
                </c:pt>
                <c:pt idx="1">
                  <c:v>Febrero</c:v>
                </c:pt>
                <c:pt idx="2">
                  <c:v>Marzo</c:v>
                </c:pt>
                <c:pt idx="3">
                  <c:v>Abril</c:v>
                </c:pt>
                <c:pt idx="4">
                  <c:v>Mayo</c:v>
                </c:pt>
              </c:strCache>
            </c:strRef>
          </c:cat>
          <c:val>
            <c:numRef>
              <c:f>Cobertura!$D$6:$D$10</c:f>
              <c:numCache>
                <c:formatCode>0%</c:formatCode>
                <c:ptCount val="5"/>
                <c:pt idx="0">
                  <c:v>1.1200000000000001</c:v>
                </c:pt>
                <c:pt idx="1">
                  <c:v>1.0900000000000001</c:v>
                </c:pt>
                <c:pt idx="2">
                  <c:v>1.07</c:v>
                </c:pt>
                <c:pt idx="3">
                  <c:v>0.94</c:v>
                </c:pt>
                <c:pt idx="4">
                  <c:v>0.98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8DE9-4E90-AB24-83DF9DB792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76787535"/>
        <c:axId val="876783375"/>
      </c:lineChart>
      <c:catAx>
        <c:axId val="87678753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PE"/>
          </a:p>
        </c:txPr>
        <c:crossAx val="876783375"/>
        <c:crosses val="autoZero"/>
        <c:auto val="1"/>
        <c:lblAlgn val="ctr"/>
        <c:lblOffset val="100"/>
        <c:noMultiLvlLbl val="0"/>
      </c:catAx>
      <c:valAx>
        <c:axId val="876783375"/>
        <c:scaling>
          <c:orientation val="minMax"/>
          <c:min val="0.70000000000000007"/>
        </c:scaling>
        <c:delete val="0"/>
        <c:axPos val="l"/>
        <c:numFmt formatCode="0%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PE"/>
          </a:p>
        </c:txPr>
        <c:crossAx val="87678753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PE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s-PE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9099672149522232E-2"/>
          <c:y val="7.3211314475873548E-2"/>
          <c:w val="0.90970799653595524"/>
          <c:h val="0.63250016376904639"/>
        </c:manualLayout>
      </c:layout>
      <c:lineChart>
        <c:grouping val="standard"/>
        <c:varyColors val="0"/>
        <c:ser>
          <c:idx val="0"/>
          <c:order val="0"/>
          <c:tx>
            <c:strRef>
              <c:f>Productividad26!$E$3</c:f>
              <c:strCache>
                <c:ptCount val="1"/>
                <c:pt idx="0">
                  <c:v>2026</c:v>
                </c:pt>
              </c:strCache>
            </c:strRef>
          </c:tx>
          <c:spPr>
            <a:ln w="25400" cap="rnd">
              <a:solidFill>
                <a:srgbClr val="FF0000"/>
              </a:solidFill>
              <a:round/>
            </a:ln>
            <a:effectLst/>
          </c:spPr>
          <c:marker>
            <c:symbol val="diamond"/>
            <c:size val="5"/>
            <c:spPr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rgbClr val="FF0000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5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PE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Productividad26!$A$4:$A$15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Productividad26!$I$4:$I$15</c:f>
              <c:numCache>
                <c:formatCode>0</c:formatCode>
                <c:ptCount val="12"/>
                <c:pt idx="0">
                  <c:v>250.15199999999999</c:v>
                </c:pt>
                <c:pt idx="1">
                  <c:v>255.22800000000001</c:v>
                </c:pt>
                <c:pt idx="2">
                  <c:v>305.024</c:v>
                </c:pt>
                <c:pt idx="3">
                  <c:v>270.24</c:v>
                </c:pt>
                <c:pt idx="4">
                  <c:v>282.72399999999999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241-42CC-BC91-247B580CBEED}"/>
            </c:ext>
          </c:extLst>
        </c:ser>
        <c:ser>
          <c:idx val="1"/>
          <c:order val="1"/>
          <c:tx>
            <c:strRef>
              <c:f>Productividad26!$F$3</c:f>
              <c:strCache>
                <c:ptCount val="1"/>
                <c:pt idx="0">
                  <c:v>2025</c:v>
                </c:pt>
              </c:strCache>
            </c:strRef>
          </c:tx>
          <c:spPr>
            <a:ln w="22225"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  <a:effectLst/>
          </c:spPr>
          <c:marker>
            <c:symbol val="diamond"/>
            <c:size val="5"/>
            <c:spPr>
              <a:solidFill>
                <a:schemeClr val="bg1">
                  <a:lumMod val="95000"/>
                </a:schemeClr>
              </a:solidFill>
              <a:ln w="9525">
                <a:solidFill>
                  <a:schemeClr val="bg1">
                    <a:lumMod val="65000"/>
                  </a:schemeClr>
                </a:solidFill>
              </a:ln>
              <a:effectLst/>
            </c:spPr>
          </c:marker>
          <c:dLbls>
            <c:dLbl>
              <c:idx val="2"/>
              <c:layout>
                <c:manualLayout>
                  <c:x val="-2.6132879045996593E-2"/>
                  <c:y val="7.658888728759154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9241-42CC-BC91-247B580CBEED}"/>
                </c:ext>
              </c:extLst>
            </c:dLbl>
            <c:dLbl>
              <c:idx val="3"/>
              <c:layout>
                <c:manualLayout>
                  <c:x val="-2.6132879045996593E-2"/>
                  <c:y val="5.662216515780785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2-9241-42CC-BC91-247B580CBEED}"/>
                </c:ext>
              </c:extLst>
            </c:dLbl>
            <c:dLbl>
              <c:idx val="4"/>
              <c:layout>
                <c:manualLayout>
                  <c:x val="-2.9540034071550255E-2"/>
                  <c:y val="4.99665911145466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9241-42CC-BC91-247B580CBEE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5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PE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Productividad26!$A$4:$A$15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Productividad26!$J$4:$J$15</c:f>
              <c:numCache>
                <c:formatCode>0</c:formatCode>
                <c:ptCount val="12"/>
                <c:pt idx="0">
                  <c:v>247.64400000000001</c:v>
                </c:pt>
                <c:pt idx="1">
                  <c:v>237.09700000000001</c:v>
                </c:pt>
                <c:pt idx="2">
                  <c:v>293.30399999999997</c:v>
                </c:pt>
                <c:pt idx="3">
                  <c:v>250.75399999999999</c:v>
                </c:pt>
                <c:pt idx="4">
                  <c:v>257.61700000000002</c:v>
                </c:pt>
                <c:pt idx="5">
                  <c:v>241.18199999999999</c:v>
                </c:pt>
                <c:pt idx="6">
                  <c:v>254.995</c:v>
                </c:pt>
                <c:pt idx="7">
                  <c:v>266.32299999999998</c:v>
                </c:pt>
                <c:pt idx="8">
                  <c:v>246.54499999999999</c:v>
                </c:pt>
                <c:pt idx="9">
                  <c:v>252.73</c:v>
                </c:pt>
                <c:pt idx="10">
                  <c:v>267.86599999999999</c:v>
                </c:pt>
                <c:pt idx="11">
                  <c:v>304.80200000000002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9241-42CC-BC91-247B580CBEE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97287855"/>
        <c:axId val="897288687"/>
      </c:lineChart>
      <c:lineChart>
        <c:grouping val="standard"/>
        <c:varyColors val="0"/>
        <c:ser>
          <c:idx val="2"/>
          <c:order val="2"/>
          <c:tx>
            <c:strRef>
              <c:f>Productividad26!$K$3</c:f>
              <c:strCache>
                <c:ptCount val="1"/>
                <c:pt idx="0">
                  <c:v>var 26 vs25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triangle"/>
            <c:size val="4"/>
            <c:spPr>
              <a:solidFill>
                <a:schemeClr val="bg1">
                  <a:lumMod val="75000"/>
                </a:schemeClr>
              </a:solidFill>
              <a:ln w="9525">
                <a:solidFill>
                  <a:schemeClr val="accent3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5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P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Productividad26!$A$4:$A$15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Productividad26!$K$4:$K$8</c:f>
              <c:numCache>
                <c:formatCode>0.0%</c:formatCode>
                <c:ptCount val="5"/>
                <c:pt idx="0">
                  <c:v>1.0127441004021742E-2</c:v>
                </c:pt>
                <c:pt idx="1">
                  <c:v>7.6470811524397275E-2</c:v>
                </c:pt>
                <c:pt idx="2">
                  <c:v>3.9958541308676487E-2</c:v>
                </c:pt>
                <c:pt idx="3">
                  <c:v>7.7709627762667877E-2</c:v>
                </c:pt>
                <c:pt idx="4">
                  <c:v>9.7458630447524675E-2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9241-42CC-BC91-247B580CBEE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97776575"/>
        <c:axId val="897775327"/>
      </c:lineChart>
      <c:catAx>
        <c:axId val="8972878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PE"/>
          </a:p>
        </c:txPr>
        <c:crossAx val="897288687"/>
        <c:crosses val="autoZero"/>
        <c:auto val="1"/>
        <c:lblAlgn val="ctr"/>
        <c:lblOffset val="100"/>
        <c:noMultiLvlLbl val="0"/>
      </c:catAx>
      <c:valAx>
        <c:axId val="897288687"/>
        <c:scaling>
          <c:orientation val="minMax"/>
          <c:max val="380"/>
          <c:min val="200"/>
        </c:scaling>
        <c:delete val="0"/>
        <c:axPos val="l"/>
        <c:numFmt formatCode="0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PE"/>
          </a:p>
        </c:txPr>
        <c:crossAx val="897287855"/>
        <c:crosses val="autoZero"/>
        <c:crossBetween val="between"/>
      </c:valAx>
      <c:valAx>
        <c:axId val="897775327"/>
        <c:scaling>
          <c:orientation val="minMax"/>
          <c:max val="0.15000000000000002"/>
          <c:min val="-0.4"/>
        </c:scaling>
        <c:delete val="0"/>
        <c:axPos val="r"/>
        <c:numFmt formatCode="0.0%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PE"/>
          </a:p>
        </c:txPr>
        <c:crossAx val="897776575"/>
        <c:crosses val="max"/>
        <c:crossBetween val="between"/>
      </c:valAx>
      <c:catAx>
        <c:axId val="89777657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897775327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9.9381596582342108E-2"/>
          <c:y val="0.87156267737032356"/>
          <c:w val="0.69436800071888305"/>
          <c:h val="0.1123135980714557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PE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1050"/>
      </a:pPr>
      <a:endParaRPr lang="es-P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22E51-1094-400D-A6D7-182F0E038403}" type="datetimeFigureOut">
              <a:rPr lang="es-PE" smtClean="0"/>
              <a:t>2/06/2026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C9E9A-F1D4-4227-8894-5132683E32F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89226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22E51-1094-400D-A6D7-182F0E038403}" type="datetimeFigureOut">
              <a:rPr lang="es-PE" smtClean="0"/>
              <a:t>2/06/2026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C9E9A-F1D4-4227-8894-5132683E32F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43058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961" b="15025"/>
          <a:stretch/>
        </p:blipFill>
        <p:spPr bwMode="auto">
          <a:xfrm>
            <a:off x="0" y="0"/>
            <a:ext cx="12201099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Imagen 3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754"/>
          <a:stretch/>
        </p:blipFill>
        <p:spPr bwMode="auto">
          <a:xfrm>
            <a:off x="0" y="7920"/>
            <a:ext cx="8349930" cy="6856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161925"/>
            <a:ext cx="10515600" cy="1325563"/>
          </a:xfrm>
        </p:spPr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E46E823-B14A-4E68-B118-82674AE7FFF8}" type="datetimeFigureOut">
              <a:rPr kumimoji="0" lang="es-ES_tradnl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02/06/2026</a:t>
            </a:fld>
            <a:endParaRPr kumimoji="0" lang="es-ES_tradnl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EEF94D0-D5BF-47D5-ABA6-DFC6FA314966}" type="slidenum">
              <a:rPr kumimoji="0" lang="es-ES_tradnl" altLang="es-PE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_tradnl" altLang="es-PE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8828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22E51-1094-400D-A6D7-182F0E038403}" type="datetimeFigureOut">
              <a:rPr lang="es-PE" smtClean="0"/>
              <a:t>2/06/2026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C9E9A-F1D4-4227-8894-5132683E32F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32361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22E51-1094-400D-A6D7-182F0E038403}" type="datetimeFigureOut">
              <a:rPr lang="es-PE" smtClean="0"/>
              <a:t>2/06/2026</a:t>
            </a:fld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C9E9A-F1D4-4227-8894-5132683E32F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73129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22E51-1094-400D-A6D7-182F0E038403}" type="datetimeFigureOut">
              <a:rPr lang="es-PE" smtClean="0"/>
              <a:t>2/06/2026</a:t>
            </a:fld>
            <a:endParaRPr lang="es-PE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C9E9A-F1D4-4227-8894-5132683E32F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25995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22E51-1094-400D-A6D7-182F0E038403}" type="datetimeFigureOut">
              <a:rPr lang="es-PE" smtClean="0"/>
              <a:t>2/06/2026</a:t>
            </a:fld>
            <a:endParaRPr lang="es-PE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C9E9A-F1D4-4227-8894-5132683E32F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49029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22E51-1094-400D-A6D7-182F0E038403}" type="datetimeFigureOut">
              <a:rPr lang="es-PE" smtClean="0"/>
              <a:t>2/06/2026</a:t>
            </a:fld>
            <a:endParaRPr lang="es-PE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C9E9A-F1D4-4227-8894-5132683E32F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673220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22E51-1094-400D-A6D7-182F0E038403}" type="datetimeFigureOut">
              <a:rPr lang="es-PE" smtClean="0"/>
              <a:t>2/06/2026</a:t>
            </a:fld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C9E9A-F1D4-4227-8894-5132683E32F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189814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22E51-1094-400D-A6D7-182F0E038403}" type="datetimeFigureOut">
              <a:rPr lang="es-PE" smtClean="0"/>
              <a:t>2/06/2026</a:t>
            </a:fld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C9E9A-F1D4-4227-8894-5132683E32F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36145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22E51-1094-400D-A6D7-182F0E038403}" type="datetimeFigureOut">
              <a:rPr lang="es-PE" smtClean="0"/>
              <a:t>2/06/2026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C9E9A-F1D4-4227-8894-5132683E32F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876406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22E51-1094-400D-A6D7-182F0E038403}" type="datetimeFigureOut">
              <a:rPr lang="es-PE" smtClean="0"/>
              <a:t>2/06/2026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C9E9A-F1D4-4227-8894-5132683E32F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883655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722E51-1094-400D-A6D7-182F0E038403}" type="datetimeFigureOut">
              <a:rPr lang="es-PE" smtClean="0"/>
              <a:t>2/06/2026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DC9E9A-F1D4-4227-8894-5132683E32F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62760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8.xml"/><Relationship Id="rId4" Type="http://schemas.openxmlformats.org/officeDocument/2006/relationships/chart" Target="../charts/char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1CFC1-D247-C693-E122-809AF417B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D23916C2-8E7C-3C9D-2FD4-9E6D1570E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938" y="2232464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s-PE" sz="9600" b="1" dirty="0">
                <a:solidFill>
                  <a:schemeClr val="bg1"/>
                </a:solidFill>
                <a:latin typeface="Arial Black"/>
              </a:rPr>
              <a:t> </a:t>
            </a:r>
            <a:r>
              <a:rPr lang="es-PE" sz="9600" b="1" dirty="0">
                <a:latin typeface="Arial Black" panose="020B0A04020102020204" pitchFamily="34" charset="0"/>
              </a:rPr>
              <a:t/>
            </a:r>
            <a:br>
              <a:rPr lang="es-PE" sz="9600" b="1" dirty="0">
                <a:latin typeface="Arial Black" panose="020B0A04020102020204" pitchFamily="34" charset="0"/>
              </a:rPr>
            </a:br>
            <a:r>
              <a:rPr lang="es-PE" sz="9600" b="1" dirty="0">
                <a:latin typeface="Arial Black" panose="020B0A04020102020204" pitchFamily="34" charset="0"/>
              </a:rPr>
              <a:t/>
            </a:r>
            <a:br>
              <a:rPr lang="es-PE" sz="9600" b="1" dirty="0">
                <a:latin typeface="Arial Black" panose="020B0A04020102020204" pitchFamily="34" charset="0"/>
              </a:rPr>
            </a:br>
            <a:r>
              <a:rPr lang="es-PE" sz="7200" b="1" dirty="0" smtClean="0">
                <a:solidFill>
                  <a:schemeClr val="bg1"/>
                </a:solidFill>
                <a:latin typeface="Arial Black"/>
              </a:rPr>
              <a:t>Productividad en Caja</a:t>
            </a:r>
            <a:r>
              <a:rPr lang="es-PE" sz="7200" b="1" dirty="0"/>
              <a:t/>
            </a:r>
            <a:br>
              <a:rPr lang="es-PE" sz="7200" b="1" dirty="0"/>
            </a:br>
            <a:endParaRPr lang="es-PE" sz="7200" b="1" dirty="0">
              <a:solidFill>
                <a:schemeClr val="bg1"/>
              </a:solidFill>
            </a:endParaRP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E8A91A2D-D9C3-BE67-8BAB-20A409B97CDC}"/>
              </a:ext>
            </a:extLst>
          </p:cNvPr>
          <p:cNvGrpSpPr/>
          <p:nvPr/>
        </p:nvGrpSpPr>
        <p:grpSpPr>
          <a:xfrm>
            <a:off x="10555663" y="242499"/>
            <a:ext cx="1434718" cy="553375"/>
            <a:chOff x="5368286" y="5906706"/>
            <a:chExt cx="2381250" cy="951293"/>
          </a:xfrm>
        </p:grpSpPr>
        <p:pic>
          <p:nvPicPr>
            <p:cNvPr id="5" name="Picture 4" descr="Vivanda/Logos variantes | Logopedia | Fandom">
              <a:extLst>
                <a:ext uri="{FF2B5EF4-FFF2-40B4-BE49-F238E27FC236}">
                  <a16:creationId xmlns:a16="http://schemas.microsoft.com/office/drawing/2014/main" id="{41E2CC45-9B29-67FB-2775-938414DE49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68286" y="5906706"/>
              <a:ext cx="2381250" cy="951293"/>
            </a:xfrm>
            <a:prstGeom prst="round2SameRect">
              <a:avLst>
                <a:gd name="adj1" fmla="val 28862"/>
                <a:gd name="adj2" fmla="val 0"/>
              </a:avLst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EA184C99-1A58-D4B5-AE6F-11DFC35E60D7}"/>
                </a:ext>
              </a:extLst>
            </p:cNvPr>
            <p:cNvSpPr/>
            <p:nvPr/>
          </p:nvSpPr>
          <p:spPr>
            <a:xfrm>
              <a:off x="5527343" y="6045957"/>
              <a:ext cx="2074460" cy="767317"/>
            </a:xfrm>
            <a:prstGeom prst="rect">
              <a:avLst/>
            </a:prstGeom>
            <a:solidFill>
              <a:srgbClr val="0071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pic>
          <p:nvPicPr>
            <p:cNvPr id="7" name="Picture 4" descr="Vivanda/Logos variantes | Logopedia | Fandom">
              <a:extLst>
                <a:ext uri="{FF2B5EF4-FFF2-40B4-BE49-F238E27FC236}">
                  <a16:creationId xmlns:a16="http://schemas.microsoft.com/office/drawing/2014/main" id="{2E477AD2-B6AB-C00A-1A7D-823DFB9BC27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080" r="7389"/>
            <a:stretch/>
          </p:blipFill>
          <p:spPr bwMode="auto">
            <a:xfrm>
              <a:off x="5770139" y="5916940"/>
              <a:ext cx="1577543" cy="906567"/>
            </a:xfrm>
            <a:prstGeom prst="round2SameRect">
              <a:avLst>
                <a:gd name="adj1" fmla="val 28862"/>
                <a:gd name="adj2" fmla="val 0"/>
              </a:avLst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8" name="Imagen 3">
            <a:extLst>
              <a:ext uri="{FF2B5EF4-FFF2-40B4-BE49-F238E27FC236}">
                <a16:creationId xmlns:a16="http://schemas.microsoft.com/office/drawing/2014/main" id="{958AF5DF-AF2D-17D6-5DF8-7B2AC4DD21E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482" t="86335" r="11362"/>
          <a:stretch/>
        </p:blipFill>
        <p:spPr bwMode="auto">
          <a:xfrm>
            <a:off x="8953972" y="200074"/>
            <a:ext cx="1583140" cy="5751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56297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807863" y="1569622"/>
            <a:ext cx="10576275" cy="2698297"/>
            <a:chOff x="0" y="0"/>
            <a:chExt cx="21152550" cy="539659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152613" cy="5396534"/>
            </a:xfrm>
            <a:custGeom>
              <a:avLst/>
              <a:gdLst/>
              <a:ahLst/>
              <a:cxnLst/>
              <a:rect l="l" t="t" r="r" b="b"/>
              <a:pathLst>
                <a:path w="21152613" h="5396534">
                  <a:moveTo>
                    <a:pt x="0" y="244791"/>
                  </a:moveTo>
                  <a:cubicBezTo>
                    <a:pt x="0" y="109512"/>
                    <a:pt x="47879" y="0"/>
                    <a:pt x="106807" y="0"/>
                  </a:cubicBezTo>
                  <a:lnTo>
                    <a:pt x="21045805" y="0"/>
                  </a:lnTo>
                  <a:lnTo>
                    <a:pt x="21045805" y="17569"/>
                  </a:lnTo>
                  <a:lnTo>
                    <a:pt x="21045805" y="0"/>
                  </a:lnTo>
                  <a:cubicBezTo>
                    <a:pt x="21104733" y="0"/>
                    <a:pt x="21152613" y="109512"/>
                    <a:pt x="21152613" y="244791"/>
                  </a:cubicBezTo>
                  <a:lnTo>
                    <a:pt x="21144993" y="244791"/>
                  </a:lnTo>
                  <a:lnTo>
                    <a:pt x="21152613" y="244791"/>
                  </a:lnTo>
                  <a:lnTo>
                    <a:pt x="21152613" y="5151743"/>
                  </a:lnTo>
                  <a:lnTo>
                    <a:pt x="21144993" y="5151743"/>
                  </a:lnTo>
                  <a:lnTo>
                    <a:pt x="21152613" y="5151743"/>
                  </a:lnTo>
                  <a:cubicBezTo>
                    <a:pt x="21152613" y="5287022"/>
                    <a:pt x="21104733" y="5396534"/>
                    <a:pt x="21045805" y="5396534"/>
                  </a:cubicBezTo>
                  <a:lnTo>
                    <a:pt x="21045805" y="5378965"/>
                  </a:lnTo>
                  <a:lnTo>
                    <a:pt x="21045805" y="5396534"/>
                  </a:lnTo>
                  <a:lnTo>
                    <a:pt x="106807" y="5396534"/>
                  </a:lnTo>
                  <a:lnTo>
                    <a:pt x="106807" y="5378965"/>
                  </a:lnTo>
                  <a:lnTo>
                    <a:pt x="106807" y="5396534"/>
                  </a:lnTo>
                  <a:cubicBezTo>
                    <a:pt x="47879" y="5396534"/>
                    <a:pt x="0" y="5287022"/>
                    <a:pt x="0" y="5151743"/>
                  </a:cubicBezTo>
                  <a:lnTo>
                    <a:pt x="0" y="244791"/>
                  </a:lnTo>
                  <a:lnTo>
                    <a:pt x="7620" y="244791"/>
                  </a:lnTo>
                  <a:lnTo>
                    <a:pt x="0" y="244791"/>
                  </a:lnTo>
                  <a:moveTo>
                    <a:pt x="15240" y="244791"/>
                  </a:moveTo>
                  <a:lnTo>
                    <a:pt x="15240" y="5151743"/>
                  </a:lnTo>
                  <a:lnTo>
                    <a:pt x="7620" y="5151743"/>
                  </a:lnTo>
                  <a:lnTo>
                    <a:pt x="15240" y="5151743"/>
                  </a:lnTo>
                  <a:cubicBezTo>
                    <a:pt x="15240" y="5267404"/>
                    <a:pt x="56134" y="5361397"/>
                    <a:pt x="106807" y="5361397"/>
                  </a:cubicBezTo>
                  <a:lnTo>
                    <a:pt x="21045805" y="5361397"/>
                  </a:lnTo>
                  <a:cubicBezTo>
                    <a:pt x="21096351" y="5361397"/>
                    <a:pt x="21137372" y="5267404"/>
                    <a:pt x="21137372" y="5151743"/>
                  </a:cubicBezTo>
                  <a:lnTo>
                    <a:pt x="21137372" y="244791"/>
                  </a:lnTo>
                  <a:cubicBezTo>
                    <a:pt x="21137372" y="129130"/>
                    <a:pt x="21096478" y="35137"/>
                    <a:pt x="21045805" y="35137"/>
                  </a:cubicBezTo>
                  <a:lnTo>
                    <a:pt x="106807" y="35137"/>
                  </a:lnTo>
                  <a:lnTo>
                    <a:pt x="106807" y="17569"/>
                  </a:lnTo>
                  <a:lnTo>
                    <a:pt x="106807" y="35137"/>
                  </a:lnTo>
                  <a:cubicBezTo>
                    <a:pt x="56134" y="35137"/>
                    <a:pt x="15240" y="129130"/>
                    <a:pt x="15240" y="244791"/>
                  </a:cubicBezTo>
                  <a:close/>
                </a:path>
              </a:pathLst>
            </a:custGeom>
            <a:solidFill>
              <a:srgbClr val="B2D4E5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6" name="AutoShape 6"/>
          <p:cNvSpPr/>
          <p:nvPr/>
        </p:nvSpPr>
        <p:spPr>
          <a:xfrm>
            <a:off x="811059" y="4947912"/>
            <a:ext cx="3660158" cy="1905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 flipV="1">
            <a:off x="4673488" y="4966961"/>
            <a:ext cx="6668057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Freeform 10"/>
          <p:cNvSpPr/>
          <p:nvPr/>
        </p:nvSpPr>
        <p:spPr>
          <a:xfrm>
            <a:off x="7297111" y="2311369"/>
            <a:ext cx="1142803" cy="1179000"/>
          </a:xfrm>
          <a:custGeom>
            <a:avLst/>
            <a:gdLst/>
            <a:ahLst/>
            <a:cxnLst/>
            <a:rect l="l" t="t" r="r" b="b"/>
            <a:pathLst>
              <a:path w="1714204" h="1768500">
                <a:moveTo>
                  <a:pt x="0" y="0"/>
                </a:moveTo>
                <a:lnTo>
                  <a:pt x="1714205" y="0"/>
                </a:lnTo>
                <a:lnTo>
                  <a:pt x="1714205" y="1768500"/>
                </a:lnTo>
                <a:lnTo>
                  <a:pt x="0" y="1768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017162" y="2537128"/>
            <a:ext cx="2482071" cy="1198881"/>
          </a:xfrm>
          <a:custGeom>
            <a:avLst/>
            <a:gdLst/>
            <a:ahLst/>
            <a:cxnLst/>
            <a:rect l="l" t="t" r="r" b="b"/>
            <a:pathLst>
              <a:path w="3723106" h="1798322">
                <a:moveTo>
                  <a:pt x="0" y="0"/>
                </a:moveTo>
                <a:lnTo>
                  <a:pt x="3723106" y="0"/>
                </a:lnTo>
                <a:lnTo>
                  <a:pt x="3723106" y="1798323"/>
                </a:lnTo>
                <a:lnTo>
                  <a:pt x="0" y="17983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28175" b="-131531"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896970" y="1749876"/>
            <a:ext cx="8488768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799"/>
              </a:lnSpc>
            </a:pPr>
            <a:r>
              <a:rPr lang="en-US" b="1" dirty="0" err="1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Indicadores</a:t>
            </a:r>
            <a:r>
              <a:rPr lang="en-US" b="1" dirty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b="1" dirty="0" smtClean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claves</a:t>
            </a:r>
            <a:endParaRPr lang="en-US" b="1" dirty="0">
              <a:solidFill>
                <a:srgbClr val="E2202E"/>
              </a:solidFill>
              <a:latin typeface="Aptos Bold"/>
              <a:ea typeface="Aptos Bold"/>
              <a:cs typeface="Aptos Bold"/>
              <a:sym typeface="Aptos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8667628" y="2211895"/>
            <a:ext cx="2685899" cy="1436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99"/>
              </a:lnSpc>
            </a:pPr>
            <a:endParaRPr sz="1200" dirty="0"/>
          </a:p>
          <a:p>
            <a:pPr>
              <a:lnSpc>
                <a:spcPts val="1599"/>
              </a:lnSpc>
            </a:pPr>
            <a:r>
              <a:rPr lang="en-US" sz="1333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NPS</a:t>
            </a:r>
          </a:p>
          <a:p>
            <a:pPr>
              <a:lnSpc>
                <a:spcPts val="1599"/>
              </a:lnSpc>
            </a:pPr>
            <a:r>
              <a:rPr lang="en-US" sz="1333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El % de </a:t>
            </a:r>
            <a:r>
              <a:rPr lang="en-US" sz="1333" dirty="0" err="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detractores</a:t>
            </a:r>
            <a:r>
              <a:rPr lang="en-US" sz="1333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y </a:t>
            </a:r>
            <a:r>
              <a:rPr lang="en-US" sz="1333" dirty="0" err="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Neutros</a:t>
            </a:r>
            <a:r>
              <a:rPr lang="en-US" sz="1333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con </a:t>
            </a:r>
            <a:r>
              <a:rPr lang="en-US" sz="1333" dirty="0" err="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comentarios</a:t>
            </a:r>
            <a:r>
              <a:rPr lang="en-US" sz="1333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1333" dirty="0" err="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negativos</a:t>
            </a:r>
            <a:r>
              <a:rPr lang="en-US" sz="1333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con </a:t>
            </a:r>
            <a:r>
              <a:rPr lang="en-US" sz="1333" dirty="0" err="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respecto</a:t>
            </a:r>
            <a:r>
              <a:rPr lang="en-US" sz="1333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a la </a:t>
            </a:r>
            <a:r>
              <a:rPr lang="en-US" sz="1333" dirty="0" err="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falta</a:t>
            </a:r>
            <a:r>
              <a:rPr lang="en-US" sz="1333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de personal </a:t>
            </a:r>
            <a:r>
              <a:rPr lang="en-US" sz="1333" dirty="0" err="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en</a:t>
            </a:r>
            <a:r>
              <a:rPr lang="en-US" sz="1333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1333" dirty="0" err="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caja</a:t>
            </a:r>
            <a:r>
              <a:rPr lang="en-US" sz="1333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y </a:t>
            </a:r>
            <a:r>
              <a:rPr lang="en-US" sz="1333" dirty="0" err="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cajas</a:t>
            </a:r>
            <a:r>
              <a:rPr lang="en-US" sz="1333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1333" dirty="0" err="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lentas</a:t>
            </a:r>
            <a:r>
              <a:rPr lang="en-US" sz="1333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.</a:t>
            </a:r>
          </a:p>
          <a:p>
            <a:pPr>
              <a:lnSpc>
                <a:spcPts val="1599"/>
              </a:lnSpc>
            </a:pPr>
            <a:endParaRPr lang="en-US" sz="1333" dirty="0">
              <a:solidFill>
                <a:srgbClr val="000000"/>
              </a:solidFill>
              <a:latin typeface="Aptos"/>
              <a:ea typeface="Aptos"/>
              <a:cs typeface="Aptos"/>
              <a:sym typeface="Aptos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20584" y="4413968"/>
            <a:ext cx="3463818" cy="327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b="1" dirty="0" err="1">
                <a:solidFill>
                  <a:srgbClr val="C30902"/>
                </a:solidFill>
                <a:latin typeface="Aptos Bold"/>
                <a:ea typeface="Aptos Bold"/>
                <a:cs typeface="Aptos Bold"/>
                <a:sym typeface="Aptos Bold"/>
              </a:rPr>
              <a:t>Indicador</a:t>
            </a:r>
            <a:r>
              <a:rPr lang="en-US" b="1" dirty="0">
                <a:solidFill>
                  <a:srgbClr val="C30902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b="1" dirty="0" smtClean="0">
                <a:solidFill>
                  <a:srgbClr val="C30902"/>
                </a:solidFill>
                <a:latin typeface="Aptos Bold"/>
                <a:ea typeface="Aptos Bold"/>
                <a:cs typeface="Aptos Bold"/>
                <a:sym typeface="Aptos Bold"/>
              </a:rPr>
              <a:t>clave</a:t>
            </a:r>
            <a:endParaRPr lang="en-US" b="1" dirty="0">
              <a:solidFill>
                <a:srgbClr val="C30902"/>
              </a:solidFill>
              <a:latin typeface="Aptos Bold"/>
              <a:ea typeface="Aptos Bold"/>
              <a:cs typeface="Aptos Bold"/>
              <a:sym typeface="Aptos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881544" y="5149592"/>
            <a:ext cx="3589673" cy="1436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6406" lvl="1" indent="-285750">
              <a:lnSpc>
                <a:spcPts val="1600"/>
              </a:lnSpc>
              <a:buFont typeface="Arial" panose="020B0604020202020204" pitchFamily="34" charset="0"/>
              <a:buChar char="•"/>
            </a:pPr>
            <a:r>
              <a:rPr lang="en-US" sz="1200" dirty="0" err="1" smtClean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Velocidad</a:t>
            </a:r>
            <a:r>
              <a:rPr lang="en-US" sz="1200" dirty="0" smtClean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de </a:t>
            </a:r>
            <a:r>
              <a:rPr lang="en-US" sz="1200" dirty="0" err="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escaneo</a:t>
            </a:r>
            <a:r>
              <a:rPr lang="en-US" sz="12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.</a:t>
            </a:r>
          </a:p>
          <a:p>
            <a:pPr marL="285750" indent="-285750">
              <a:lnSpc>
                <a:spcPts val="1600"/>
              </a:lnSpc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000000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06406" lvl="1" indent="-285750">
              <a:lnSpc>
                <a:spcPts val="1600"/>
              </a:lnSpc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Cobertura</a:t>
            </a:r>
            <a:r>
              <a:rPr lang="en-US" sz="12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de </a:t>
            </a:r>
            <a:r>
              <a:rPr lang="en-US" sz="1200" dirty="0" err="1" smtClean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caja</a:t>
            </a:r>
            <a:endParaRPr lang="en-US" sz="1200" dirty="0" smtClean="0">
              <a:solidFill>
                <a:srgbClr val="000000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06406" lvl="1" indent="-285750">
              <a:lnSpc>
                <a:spcPts val="1600"/>
              </a:lnSpc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000000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06406" lvl="1" indent="-285750">
              <a:lnSpc>
                <a:spcPts val="1600"/>
              </a:lnSpc>
              <a:buFont typeface="Arial" panose="020B0604020202020204" pitchFamily="34" charset="0"/>
              <a:buChar char="•"/>
            </a:pPr>
            <a:r>
              <a:rPr lang="en-US" sz="1200" dirty="0" err="1" smtClean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Productividad</a:t>
            </a:r>
            <a:endParaRPr lang="en-US" sz="1200" dirty="0" smtClean="0">
              <a:solidFill>
                <a:srgbClr val="000000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06406" lvl="1" indent="-285750">
              <a:lnSpc>
                <a:spcPts val="1600"/>
              </a:lnSpc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000000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06406" lvl="1" indent="-285750">
              <a:lnSpc>
                <a:spcPts val="1600"/>
              </a:lnSpc>
              <a:buFont typeface="Arial" panose="020B0604020202020204" pitchFamily="34" charset="0"/>
              <a:buChar char="•"/>
            </a:pPr>
            <a:r>
              <a:rPr lang="en-US" sz="1200" dirty="0" smtClean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NPS.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744132" y="4413968"/>
            <a:ext cx="3463818" cy="327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b="1" dirty="0" err="1" smtClean="0">
                <a:solidFill>
                  <a:srgbClr val="C30902"/>
                </a:solidFill>
                <a:latin typeface="Aptos Bold"/>
                <a:ea typeface="Aptos Bold"/>
                <a:cs typeface="Aptos Bold"/>
                <a:sym typeface="Aptos Bold"/>
              </a:rPr>
              <a:t>Principales</a:t>
            </a:r>
            <a:r>
              <a:rPr lang="en-US" b="1" dirty="0" smtClean="0">
                <a:solidFill>
                  <a:srgbClr val="C30902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b="1" dirty="0" err="1" smtClean="0">
                <a:solidFill>
                  <a:srgbClr val="C30902"/>
                </a:solidFill>
                <a:latin typeface="Aptos Bold"/>
                <a:ea typeface="Aptos Bold"/>
                <a:cs typeface="Aptos Bold"/>
                <a:sym typeface="Aptos Bold"/>
              </a:rPr>
              <a:t>acciones</a:t>
            </a:r>
            <a:r>
              <a:rPr lang="en-US" b="1" dirty="0" smtClean="0">
                <a:solidFill>
                  <a:srgbClr val="C30902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endParaRPr lang="en-US" b="1" dirty="0">
              <a:solidFill>
                <a:srgbClr val="C30902"/>
              </a:solidFill>
              <a:latin typeface="Aptos Bold"/>
              <a:ea typeface="Aptos Bold"/>
              <a:cs typeface="Aptos Bold"/>
              <a:sym typeface="Aptos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733329" y="665381"/>
            <a:ext cx="10650841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199"/>
              </a:lnSpc>
              <a:spcBef>
                <a:spcPct val="0"/>
              </a:spcBef>
            </a:pPr>
            <a:r>
              <a:rPr lang="en-US" sz="2666" b="1" dirty="0" err="1" smtClean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Productividad</a:t>
            </a:r>
            <a:r>
              <a:rPr lang="en-US" sz="2666" b="1" dirty="0" smtClean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 y </a:t>
            </a:r>
            <a:r>
              <a:rPr lang="en-US" sz="2666" b="1" dirty="0" err="1" smtClean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Nivel</a:t>
            </a:r>
            <a:r>
              <a:rPr lang="en-US" sz="2666" b="1" dirty="0" smtClean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2666" b="1" dirty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de </a:t>
            </a:r>
            <a:r>
              <a:rPr lang="en-US" sz="2666" b="1" dirty="0" err="1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Servicio</a:t>
            </a:r>
            <a:r>
              <a:rPr lang="en-US" sz="2666" b="1" dirty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2666" b="1" dirty="0" err="1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en</a:t>
            </a:r>
            <a:r>
              <a:rPr lang="en-US" sz="2666" b="1" dirty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2666" b="1" dirty="0" err="1" smtClean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Caja</a:t>
            </a:r>
            <a:endParaRPr lang="en-US" sz="2666" b="1" dirty="0">
              <a:solidFill>
                <a:srgbClr val="E2202E"/>
              </a:solidFill>
              <a:latin typeface="Aptos Bold"/>
              <a:ea typeface="Aptos Bold"/>
              <a:cs typeface="Aptos Bold"/>
              <a:sym typeface="Aptos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3691832" y="2230983"/>
            <a:ext cx="2806067" cy="1538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81"/>
              </a:lnSpc>
            </a:pPr>
            <a:r>
              <a:rPr lang="en-US" sz="1333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Velocidad</a:t>
            </a:r>
            <a:r>
              <a:rPr lang="en-US" sz="1333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1333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en</a:t>
            </a:r>
            <a:r>
              <a:rPr lang="en-US" sz="1333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1333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caja</a:t>
            </a:r>
            <a:r>
              <a:rPr lang="en-US" sz="1333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:</a:t>
            </a:r>
          </a:p>
          <a:p>
            <a:pPr>
              <a:lnSpc>
                <a:spcPts val="1481"/>
              </a:lnSpc>
            </a:pPr>
            <a:r>
              <a:rPr lang="en-US" sz="1333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Items </a:t>
            </a:r>
            <a:r>
              <a:rPr lang="en-US" sz="1333" dirty="0" err="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escaneados</a:t>
            </a:r>
            <a:r>
              <a:rPr lang="en-US" sz="1333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/min</a:t>
            </a:r>
          </a:p>
          <a:p>
            <a:pPr>
              <a:lnSpc>
                <a:spcPts val="1481"/>
              </a:lnSpc>
            </a:pPr>
            <a:endParaRPr lang="en-US" sz="1333" dirty="0">
              <a:solidFill>
                <a:srgbClr val="000000"/>
              </a:solidFill>
              <a:latin typeface="Aptos"/>
              <a:ea typeface="Aptos"/>
              <a:cs typeface="Aptos"/>
              <a:sym typeface="Aptos"/>
            </a:endParaRPr>
          </a:p>
          <a:p>
            <a:pPr>
              <a:lnSpc>
                <a:spcPts val="1481"/>
              </a:lnSpc>
            </a:pPr>
            <a:r>
              <a:rPr lang="en-US" sz="1333" b="1" dirty="0" err="1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Productividad</a:t>
            </a:r>
            <a:endParaRPr lang="en-US" sz="1333" b="1" dirty="0" smtClean="0">
              <a:solidFill>
                <a:srgbClr val="000000"/>
              </a:solidFill>
              <a:latin typeface="Aptos Bold"/>
              <a:ea typeface="Aptos Bold"/>
              <a:cs typeface="Aptos Bold"/>
              <a:sym typeface="Aptos Bold"/>
            </a:endParaRPr>
          </a:p>
          <a:p>
            <a:pPr>
              <a:lnSpc>
                <a:spcPts val="1481"/>
              </a:lnSpc>
            </a:pPr>
            <a:r>
              <a:rPr lang="en-US" sz="1333" dirty="0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Soles/JEQ </a:t>
            </a:r>
            <a:r>
              <a:rPr lang="en-US" sz="1333" dirty="0" err="1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cajas</a:t>
            </a:r>
            <a:endParaRPr lang="en-US" sz="1333" dirty="0" smtClean="0">
              <a:solidFill>
                <a:srgbClr val="000000"/>
              </a:solidFill>
              <a:latin typeface="Aptos Bold"/>
              <a:ea typeface="Aptos Bold"/>
              <a:cs typeface="Aptos Bold"/>
              <a:sym typeface="Aptos Bold"/>
            </a:endParaRPr>
          </a:p>
          <a:p>
            <a:pPr>
              <a:lnSpc>
                <a:spcPts val="1481"/>
              </a:lnSpc>
            </a:pPr>
            <a:endParaRPr lang="en-US" sz="1333" b="1" dirty="0" smtClean="0">
              <a:solidFill>
                <a:srgbClr val="000000"/>
              </a:solidFill>
              <a:latin typeface="Aptos Bold"/>
              <a:ea typeface="Aptos Bold"/>
              <a:cs typeface="Aptos Bold"/>
              <a:sym typeface="Aptos Bold"/>
            </a:endParaRPr>
          </a:p>
          <a:p>
            <a:pPr>
              <a:lnSpc>
                <a:spcPts val="1481"/>
              </a:lnSpc>
            </a:pPr>
            <a:r>
              <a:rPr lang="en-US" sz="1333" b="1" dirty="0" err="1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Cobertura</a:t>
            </a:r>
            <a:r>
              <a:rPr lang="en-US" sz="1333" b="1" dirty="0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1333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en</a:t>
            </a:r>
            <a:r>
              <a:rPr lang="en-US" sz="1333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1333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caja</a:t>
            </a:r>
            <a:endParaRPr lang="en-US" sz="1333" b="1" dirty="0">
              <a:solidFill>
                <a:srgbClr val="000000"/>
              </a:solidFill>
              <a:latin typeface="Aptos Bold"/>
              <a:ea typeface="Aptos Bold"/>
              <a:cs typeface="Aptos Bold"/>
              <a:sym typeface="Aptos Bold"/>
            </a:endParaRPr>
          </a:p>
          <a:p>
            <a:pPr>
              <a:lnSpc>
                <a:spcPts val="1481"/>
              </a:lnSpc>
            </a:pPr>
            <a:r>
              <a:rPr lang="en-US" sz="1333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% de </a:t>
            </a:r>
            <a:r>
              <a:rPr lang="en-US" sz="1333" dirty="0" err="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cajas</a:t>
            </a:r>
            <a:r>
              <a:rPr lang="en-US" sz="1333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1333" dirty="0" err="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abiertas</a:t>
            </a:r>
            <a:r>
              <a:rPr lang="en-US" sz="1333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/</a:t>
            </a:r>
            <a:r>
              <a:rPr lang="en-US" sz="1333" dirty="0" err="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Cajas</a:t>
            </a:r>
            <a:r>
              <a:rPr lang="en-US" sz="1333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1333" dirty="0" err="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requeridas</a:t>
            </a:r>
            <a:endParaRPr lang="en-US" sz="1333" dirty="0">
              <a:solidFill>
                <a:srgbClr val="000000"/>
              </a:solidFill>
              <a:latin typeface="Aptos"/>
              <a:ea typeface="Aptos"/>
              <a:cs typeface="Aptos"/>
              <a:sym typeface="Aptos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4425175" y="5149592"/>
            <a:ext cx="7514577" cy="14362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06406" lvl="1" indent="-285750">
              <a:lnSpc>
                <a:spcPts val="1600"/>
              </a:lnSpc>
              <a:buFont typeface="Arial" panose="020B0604020202020204" pitchFamily="34" charset="0"/>
              <a:buChar char="•"/>
            </a:pPr>
            <a:r>
              <a:rPr lang="en-US" sz="1200" dirty="0" err="1" smtClean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Establecimiento</a:t>
            </a:r>
            <a:r>
              <a:rPr lang="en-US" sz="1200" dirty="0" smtClean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de </a:t>
            </a:r>
            <a:r>
              <a:rPr lang="en-US" sz="1200" dirty="0" err="1" smtClean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metas</a:t>
            </a:r>
            <a:r>
              <a:rPr lang="en-US" sz="1200" dirty="0" smtClean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por</a:t>
            </a:r>
            <a:r>
              <a:rPr lang="en-US" sz="1200" dirty="0" smtClean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tienda</a:t>
            </a:r>
            <a:r>
              <a:rPr lang="en-US" sz="1200" dirty="0" smtClean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cluster, Dashboard de </a:t>
            </a:r>
            <a:r>
              <a:rPr lang="en-US" sz="1200" dirty="0" err="1" smtClean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medición</a:t>
            </a:r>
            <a:r>
              <a:rPr lang="en-US" sz="1200" dirty="0" smtClean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diaria</a:t>
            </a:r>
            <a:r>
              <a:rPr lang="en-US" sz="1200" dirty="0" smtClean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y  </a:t>
            </a:r>
            <a:r>
              <a:rPr lang="en-US" sz="1200" dirty="0" err="1" smtClean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nivel</a:t>
            </a:r>
            <a:r>
              <a:rPr lang="en-US" sz="1200" dirty="0" smtClean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cajero</a:t>
            </a:r>
            <a:endParaRPr lang="en-US" sz="1200" dirty="0" smtClean="0">
              <a:solidFill>
                <a:srgbClr val="000000"/>
              </a:solidFill>
              <a:latin typeface="Aptos"/>
              <a:ea typeface="Aptos"/>
              <a:cs typeface="Aptos"/>
              <a:sym typeface="Aptos"/>
            </a:endParaRPr>
          </a:p>
          <a:p>
            <a:pPr marL="241313" lvl="1" indent="-120657">
              <a:lnSpc>
                <a:spcPts val="1600"/>
              </a:lnSpc>
              <a:buFont typeface="Arial"/>
              <a:buChar char="•"/>
            </a:pPr>
            <a:endParaRPr lang="en-US" sz="1200" dirty="0">
              <a:solidFill>
                <a:srgbClr val="000000"/>
              </a:solidFill>
              <a:latin typeface="Aptos"/>
              <a:ea typeface="Aptos"/>
              <a:cs typeface="Aptos"/>
              <a:sym typeface="Aptos"/>
            </a:endParaRPr>
          </a:p>
          <a:p>
            <a:pPr marL="241313" lvl="1" indent="-120657">
              <a:lnSpc>
                <a:spcPts val="1600"/>
              </a:lnSpc>
              <a:buFont typeface="Arial"/>
              <a:buChar char="•"/>
            </a:pPr>
            <a:r>
              <a:rPr lang="en-US" sz="1200" dirty="0" err="1" smtClean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Actualización</a:t>
            </a:r>
            <a:r>
              <a:rPr lang="en-US" sz="1200" dirty="0" smtClean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de </a:t>
            </a:r>
            <a:r>
              <a:rPr lang="en-US" sz="1200" dirty="0" err="1" smtClean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estandares</a:t>
            </a:r>
            <a:r>
              <a:rPr lang="en-US" sz="1200" dirty="0" smtClean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y </a:t>
            </a:r>
            <a:r>
              <a:rPr lang="en-US" sz="1200" dirty="0" err="1" smtClean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refinamiento</a:t>
            </a:r>
            <a:r>
              <a:rPr lang="en-US" sz="1200" dirty="0" smtClean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de </a:t>
            </a:r>
            <a:r>
              <a:rPr lang="en-US" sz="1200" dirty="0" err="1" smtClean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datos</a:t>
            </a:r>
            <a:r>
              <a:rPr lang="en-US" sz="1200" dirty="0" smtClean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enviados</a:t>
            </a:r>
            <a:r>
              <a:rPr lang="en-US" sz="1200" dirty="0" smtClean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a Kronos.</a:t>
            </a:r>
          </a:p>
          <a:p>
            <a:pPr marL="406406" lvl="1" indent="-285750">
              <a:lnSpc>
                <a:spcPts val="1600"/>
              </a:lnSpc>
              <a:buFont typeface="Arial" panose="020B0604020202020204" pitchFamily="34" charset="0"/>
              <a:buChar char="•"/>
            </a:pPr>
            <a:endParaRPr lang="en-US" sz="1200" b="1" dirty="0">
              <a:solidFill>
                <a:srgbClr val="000000"/>
              </a:solidFill>
              <a:latin typeface="Aptos Bold"/>
              <a:ea typeface="Aptos Bold"/>
              <a:cs typeface="Aptos Bold"/>
              <a:sym typeface="Aptos Bold"/>
            </a:endParaRPr>
          </a:p>
          <a:p>
            <a:pPr marL="241313" lvl="1" indent="-120657">
              <a:lnSpc>
                <a:spcPts val="1600"/>
              </a:lnSpc>
              <a:buFont typeface="Arial"/>
              <a:buChar char="•"/>
            </a:pPr>
            <a:r>
              <a:rPr lang="en-US" sz="1200" dirty="0" err="1" smtClean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Metas</a:t>
            </a:r>
            <a:r>
              <a:rPr lang="en-US" sz="1200" dirty="0" smtClean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por</a:t>
            </a:r>
            <a:r>
              <a:rPr lang="en-US" sz="1200" dirty="0" smtClean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tienda</a:t>
            </a:r>
            <a:r>
              <a:rPr lang="en-US" sz="12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-</a:t>
            </a:r>
            <a:r>
              <a:rPr lang="en-US" sz="1200" dirty="0" smtClean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cluster, </a:t>
            </a:r>
            <a:r>
              <a:rPr lang="en-US" sz="1200" dirty="0" err="1" smtClean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estimación</a:t>
            </a:r>
            <a:r>
              <a:rPr lang="en-US" sz="1200" dirty="0" smtClean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dotación</a:t>
            </a:r>
            <a:r>
              <a:rPr lang="en-US" sz="1200" dirty="0" smtClean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por</a:t>
            </a:r>
            <a:r>
              <a:rPr lang="en-US" sz="1200" dirty="0" smtClean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equipo</a:t>
            </a:r>
            <a:r>
              <a:rPr lang="en-US" sz="1200" dirty="0" smtClean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de EO a </a:t>
            </a:r>
            <a:r>
              <a:rPr lang="en-US" sz="1200" dirty="0" err="1" smtClean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nivel</a:t>
            </a:r>
            <a:r>
              <a:rPr lang="en-US" sz="1200" dirty="0" smtClean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área</a:t>
            </a:r>
            <a:r>
              <a:rPr lang="en-US" sz="1200" dirty="0" smtClean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.</a:t>
            </a:r>
          </a:p>
          <a:p>
            <a:pPr marL="241313" lvl="1" indent="-120657">
              <a:lnSpc>
                <a:spcPts val="1600"/>
              </a:lnSpc>
              <a:buFont typeface="Arial"/>
              <a:buChar char="•"/>
            </a:pPr>
            <a:endParaRPr lang="en-US" sz="1200" dirty="0">
              <a:solidFill>
                <a:srgbClr val="000000"/>
              </a:solidFill>
              <a:latin typeface="Aptos"/>
              <a:ea typeface="Aptos"/>
              <a:cs typeface="Aptos"/>
              <a:sym typeface="Aptos"/>
            </a:endParaRPr>
          </a:p>
          <a:p>
            <a:pPr marL="241313" lvl="1" indent="-120657">
              <a:lnSpc>
                <a:spcPts val="1600"/>
              </a:lnSpc>
              <a:buFont typeface="Arial"/>
              <a:buChar char="•"/>
            </a:pPr>
            <a:r>
              <a:rPr lang="en-US" sz="1200" dirty="0" err="1" smtClean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Construcción</a:t>
            </a:r>
            <a:r>
              <a:rPr lang="en-US" sz="1200" dirty="0" smtClean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de un </a:t>
            </a:r>
            <a:r>
              <a:rPr lang="en-US" sz="1200" dirty="0" err="1" smtClean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tablero</a:t>
            </a:r>
            <a:r>
              <a:rPr lang="en-US" sz="1200" dirty="0" smtClean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con la </a:t>
            </a:r>
            <a:r>
              <a:rPr lang="en-US" sz="1200" dirty="0" err="1" smtClean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información</a:t>
            </a:r>
            <a:r>
              <a:rPr lang="en-US" sz="1200" dirty="0" smtClean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InHouse</a:t>
            </a:r>
            <a:r>
              <a:rPr lang="en-US" sz="1200" dirty="0" smtClean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.</a:t>
            </a:r>
            <a:endParaRPr lang="en-US" sz="1200" dirty="0">
              <a:solidFill>
                <a:srgbClr val="000000"/>
              </a:solidFill>
              <a:latin typeface="Aptos"/>
              <a:ea typeface="Aptos"/>
              <a:cs typeface="Aptos"/>
              <a:sym typeface="Aptos"/>
            </a:endParaRPr>
          </a:p>
        </p:txBody>
      </p:sp>
      <p:sp>
        <p:nvSpPr>
          <p:cNvPr id="21" name="Rectángulo 20"/>
          <p:cNvSpPr/>
          <p:nvPr/>
        </p:nvSpPr>
        <p:spPr>
          <a:xfrm>
            <a:off x="0" y="0"/>
            <a:ext cx="178676" cy="6858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39759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ráfico 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86578468"/>
              </p:ext>
            </p:extLst>
          </p:nvPr>
        </p:nvGraphicFramePr>
        <p:xfrm>
          <a:off x="588579" y="1729025"/>
          <a:ext cx="4855779" cy="23007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11"/>
          <p:cNvSpPr txBox="1"/>
          <p:nvPr/>
        </p:nvSpPr>
        <p:spPr>
          <a:xfrm>
            <a:off x="714703" y="667310"/>
            <a:ext cx="10487201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799"/>
              </a:lnSpc>
            </a:pPr>
            <a:r>
              <a:rPr lang="en-US" sz="2250" b="1" dirty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¿Como van </a:t>
            </a:r>
            <a:r>
              <a:rPr lang="en-US" sz="2250" b="1" dirty="0" err="1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nuestros</a:t>
            </a:r>
            <a:r>
              <a:rPr lang="en-US" sz="2250" b="1" dirty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2250" b="1" dirty="0" err="1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resultados</a:t>
            </a:r>
            <a:r>
              <a:rPr lang="en-US" sz="2250" b="1" dirty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?</a:t>
            </a:r>
          </a:p>
        </p:txBody>
      </p:sp>
      <p:graphicFrame>
        <p:nvGraphicFramePr>
          <p:cNvPr id="9" name="Gráfico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23596587"/>
              </p:ext>
            </p:extLst>
          </p:nvPr>
        </p:nvGraphicFramePr>
        <p:xfrm>
          <a:off x="456761" y="4861581"/>
          <a:ext cx="4987597" cy="18224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Rectángulo 10"/>
          <p:cNvSpPr/>
          <p:nvPr/>
        </p:nvSpPr>
        <p:spPr>
          <a:xfrm>
            <a:off x="0" y="0"/>
            <a:ext cx="178676" cy="6858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2" name="TextBox 19"/>
          <p:cNvSpPr txBox="1"/>
          <p:nvPr/>
        </p:nvSpPr>
        <p:spPr>
          <a:xfrm>
            <a:off x="714703" y="4456969"/>
            <a:ext cx="4558788" cy="1923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481"/>
              </a:lnSpc>
            </a:pPr>
            <a:r>
              <a:rPr lang="en-US" sz="1100" b="1" dirty="0" err="1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Cobertura</a:t>
            </a:r>
            <a:r>
              <a:rPr lang="en-US" sz="1100" b="1" dirty="0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1100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en</a:t>
            </a:r>
            <a:r>
              <a:rPr lang="en-US" sz="1100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1100" b="1" dirty="0" err="1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caja</a:t>
            </a:r>
            <a:r>
              <a:rPr lang="en-US" sz="1100" b="1" dirty="0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: </a:t>
            </a:r>
            <a:r>
              <a:rPr lang="en-US" sz="1100" dirty="0" smtClean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% </a:t>
            </a:r>
            <a:r>
              <a:rPr lang="en-US" sz="11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de </a:t>
            </a:r>
            <a:r>
              <a:rPr lang="en-US" sz="1100" dirty="0" err="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cajas</a:t>
            </a:r>
            <a:r>
              <a:rPr lang="en-US" sz="11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abiertas</a:t>
            </a:r>
            <a:r>
              <a:rPr lang="en-US" sz="11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/</a:t>
            </a:r>
            <a:r>
              <a:rPr lang="en-US" sz="1100" dirty="0" err="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Cajas</a:t>
            </a:r>
            <a:r>
              <a:rPr lang="en-US" sz="11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requeridas</a:t>
            </a:r>
            <a:endParaRPr lang="en-US" sz="1100" dirty="0">
              <a:solidFill>
                <a:srgbClr val="000000"/>
              </a:solidFill>
              <a:latin typeface="Aptos"/>
              <a:ea typeface="Aptos"/>
              <a:cs typeface="Aptos"/>
              <a:sym typeface="Aptos"/>
            </a:endParaRPr>
          </a:p>
        </p:txBody>
      </p:sp>
      <p:sp>
        <p:nvSpPr>
          <p:cNvPr id="13" name="Rectángulo 12"/>
          <p:cNvSpPr/>
          <p:nvPr/>
        </p:nvSpPr>
        <p:spPr>
          <a:xfrm>
            <a:off x="588579" y="1243340"/>
            <a:ext cx="6096000" cy="26872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1481"/>
              </a:lnSpc>
            </a:pPr>
            <a:r>
              <a:rPr lang="en-US" sz="1100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Velocidad</a:t>
            </a:r>
            <a:r>
              <a:rPr lang="en-US" sz="1100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1100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en</a:t>
            </a:r>
            <a:r>
              <a:rPr lang="en-US" sz="1100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1100" b="1" dirty="0" err="1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caja</a:t>
            </a:r>
            <a:r>
              <a:rPr lang="en-US" sz="1100" b="1" dirty="0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: </a:t>
            </a:r>
            <a:r>
              <a:rPr lang="en-US" sz="1100" dirty="0" smtClean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Items </a:t>
            </a:r>
            <a:r>
              <a:rPr lang="en-US" sz="1100" dirty="0" err="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escaneados</a:t>
            </a:r>
            <a:r>
              <a:rPr lang="en-US" sz="11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/min</a:t>
            </a:r>
            <a:endParaRPr lang="en-US" sz="1100" dirty="0">
              <a:solidFill>
                <a:srgbClr val="000000"/>
              </a:solidFill>
              <a:latin typeface="Aptos"/>
              <a:ea typeface="Aptos"/>
              <a:cs typeface="Aptos"/>
              <a:sym typeface="Aptos"/>
            </a:endParaRPr>
          </a:p>
        </p:txBody>
      </p:sp>
      <p:sp>
        <p:nvSpPr>
          <p:cNvPr id="14" name="Rectángulo 13"/>
          <p:cNvSpPr/>
          <p:nvPr/>
        </p:nvSpPr>
        <p:spPr>
          <a:xfrm>
            <a:off x="6684579" y="1347074"/>
            <a:ext cx="6096000" cy="26872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1481"/>
              </a:lnSpc>
            </a:pPr>
            <a:r>
              <a:rPr lang="en-US" sz="1100" b="1" dirty="0" err="1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Productividad</a:t>
            </a:r>
            <a:r>
              <a:rPr lang="en-US" sz="1100" b="1" dirty="0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: </a:t>
            </a:r>
            <a:r>
              <a:rPr lang="en-US" sz="1100" dirty="0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Soles (miles) /JEQ </a:t>
            </a:r>
            <a:r>
              <a:rPr lang="en-US" sz="1100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cajas</a:t>
            </a:r>
            <a:endParaRPr lang="en-US" sz="1100" dirty="0">
              <a:solidFill>
                <a:srgbClr val="000000"/>
              </a:solidFill>
              <a:latin typeface="Aptos Bold"/>
              <a:ea typeface="Aptos Bold"/>
              <a:cs typeface="Aptos Bold"/>
              <a:sym typeface="Aptos Bold"/>
            </a:endParaRPr>
          </a:p>
        </p:txBody>
      </p:sp>
      <p:graphicFrame>
        <p:nvGraphicFramePr>
          <p:cNvPr id="15" name="Gráfico 1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2772393"/>
              </p:ext>
            </p:extLst>
          </p:nvPr>
        </p:nvGraphicFramePr>
        <p:xfrm>
          <a:off x="5958302" y="1896204"/>
          <a:ext cx="5550525" cy="21336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7" name="CuadroTexto 16"/>
          <p:cNvSpPr txBox="1"/>
          <p:nvPr/>
        </p:nvSpPr>
        <p:spPr>
          <a:xfrm>
            <a:off x="5987464" y="4456968"/>
            <a:ext cx="552136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dirty="0"/>
              <a:t>M</a:t>
            </a:r>
            <a:r>
              <a:rPr lang="es-PE" dirty="0" smtClean="0"/>
              <a:t>ejoramos en los ratios de velocidad (2.2% vs AA) y productividad de cajas (6% vs AA).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dirty="0" smtClean="0"/>
              <a:t>Aún tenemos oportunidad para mejorar en efectividad de pronóstico y niveles de cobertura (Cobertura &gt;=95%).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133532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2"/>
          <a:srcRect l="2015"/>
          <a:stretch/>
        </p:blipFill>
        <p:spPr>
          <a:xfrm>
            <a:off x="577801" y="1978699"/>
            <a:ext cx="6338348" cy="3032564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75" y="1917808"/>
            <a:ext cx="2364753" cy="3154347"/>
          </a:xfrm>
          <a:prstGeom prst="rect">
            <a:avLst/>
          </a:prstGeom>
        </p:spPr>
      </p:pic>
      <p:sp>
        <p:nvSpPr>
          <p:cNvPr id="4" name="Rectángulo 3"/>
          <p:cNvSpPr/>
          <p:nvPr/>
        </p:nvSpPr>
        <p:spPr>
          <a:xfrm>
            <a:off x="0" y="0"/>
            <a:ext cx="178676" cy="6858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" name="TextBox 11"/>
          <p:cNvSpPr txBox="1"/>
          <p:nvPr/>
        </p:nvSpPr>
        <p:spPr>
          <a:xfrm>
            <a:off x="714703" y="667310"/>
            <a:ext cx="10487201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799"/>
              </a:lnSpc>
            </a:pPr>
            <a:r>
              <a:rPr lang="en-US" sz="2250" b="1" dirty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¿Como van </a:t>
            </a:r>
            <a:r>
              <a:rPr lang="en-US" sz="2250" b="1" dirty="0" err="1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nuestros</a:t>
            </a:r>
            <a:r>
              <a:rPr lang="en-US" sz="2250" b="1" dirty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2250" b="1" dirty="0" err="1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resultados</a:t>
            </a:r>
            <a:r>
              <a:rPr lang="en-US" sz="2250" b="1" dirty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?</a:t>
            </a: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0028" y="1917808"/>
            <a:ext cx="2228193" cy="3154347"/>
          </a:xfrm>
          <a:prstGeom prst="rect">
            <a:avLst/>
          </a:prstGeom>
        </p:spPr>
      </p:pic>
      <p:sp>
        <p:nvSpPr>
          <p:cNvPr id="7" name="CuadroTexto 6"/>
          <p:cNvSpPr txBox="1"/>
          <p:nvPr/>
        </p:nvSpPr>
        <p:spPr>
          <a:xfrm>
            <a:off x="714703" y="5380925"/>
            <a:ext cx="110779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dirty="0" smtClean="0"/>
              <a:t>Se visualiza una mejora en % de detractores para “cajas falta de personal y atención lenta”, aún tenemos oportunidades para los clientes detractores en con “respecto a atención lenta en caja” impactados principalmente en los meses de abril y mayo.</a:t>
            </a:r>
            <a:endParaRPr lang="es-PE" dirty="0"/>
          </a:p>
        </p:txBody>
      </p:sp>
      <p:sp>
        <p:nvSpPr>
          <p:cNvPr id="8" name="Rectángulo 7"/>
          <p:cNvSpPr/>
          <p:nvPr/>
        </p:nvSpPr>
        <p:spPr>
          <a:xfrm>
            <a:off x="7416802" y="2328333"/>
            <a:ext cx="1645478" cy="211667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9" name="Rectángulo 8"/>
          <p:cNvSpPr/>
          <p:nvPr/>
        </p:nvSpPr>
        <p:spPr>
          <a:xfrm>
            <a:off x="7389688" y="3217333"/>
            <a:ext cx="1645478" cy="211667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" name="Rectángulo 9"/>
          <p:cNvSpPr/>
          <p:nvPr/>
        </p:nvSpPr>
        <p:spPr>
          <a:xfrm>
            <a:off x="9760354" y="3763045"/>
            <a:ext cx="1645478" cy="461822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89073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703" y="2469932"/>
            <a:ext cx="4572106" cy="3846786"/>
          </a:xfrm>
          <a:prstGeom prst="rect">
            <a:avLst/>
          </a:prstGeom>
        </p:spPr>
      </p:pic>
      <p:sp>
        <p:nvSpPr>
          <p:cNvPr id="3" name="TextBox 11"/>
          <p:cNvSpPr txBox="1"/>
          <p:nvPr/>
        </p:nvSpPr>
        <p:spPr>
          <a:xfrm>
            <a:off x="714703" y="667310"/>
            <a:ext cx="10487201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799"/>
              </a:lnSpc>
            </a:pPr>
            <a:r>
              <a:rPr lang="en-US" sz="2250" b="1" dirty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¿</a:t>
            </a:r>
            <a:r>
              <a:rPr lang="en-US" sz="2250" b="1" dirty="0" err="1" smtClean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Cuales</a:t>
            </a:r>
            <a:r>
              <a:rPr lang="en-US" sz="2250" b="1" dirty="0" smtClean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 son </a:t>
            </a:r>
            <a:r>
              <a:rPr lang="en-US" sz="2250" b="1" dirty="0" err="1" smtClean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nuestros</a:t>
            </a:r>
            <a:r>
              <a:rPr lang="en-US" sz="2250" b="1" dirty="0" smtClean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2250" b="1" dirty="0" err="1" smtClean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próximos</a:t>
            </a:r>
            <a:r>
              <a:rPr lang="en-US" sz="2250" b="1" dirty="0" smtClean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2250" b="1" dirty="0" err="1" smtClean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pasos</a:t>
            </a:r>
            <a:r>
              <a:rPr lang="en-US" sz="2250" b="1" dirty="0" smtClean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?</a:t>
            </a:r>
            <a:endParaRPr lang="en-US" sz="2250" b="1" dirty="0">
              <a:solidFill>
                <a:srgbClr val="E2202E"/>
              </a:solidFill>
              <a:latin typeface="Aptos Bold"/>
              <a:ea typeface="Aptos Bold"/>
              <a:cs typeface="Aptos Bold"/>
              <a:sym typeface="Aptos Bold"/>
            </a:endParaRPr>
          </a:p>
        </p:txBody>
      </p:sp>
      <p:sp>
        <p:nvSpPr>
          <p:cNvPr id="4" name="Rectángulo 3"/>
          <p:cNvSpPr/>
          <p:nvPr/>
        </p:nvSpPr>
        <p:spPr>
          <a:xfrm>
            <a:off x="0" y="0"/>
            <a:ext cx="178676" cy="6858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510" y="1690215"/>
            <a:ext cx="1952898" cy="2048161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4003" y="4049967"/>
            <a:ext cx="4667901" cy="1848108"/>
          </a:xfrm>
          <a:prstGeom prst="rect">
            <a:avLst/>
          </a:prstGeom>
        </p:spPr>
      </p:pic>
      <p:sp>
        <p:nvSpPr>
          <p:cNvPr id="7" name="Rectángulo 6"/>
          <p:cNvSpPr/>
          <p:nvPr/>
        </p:nvSpPr>
        <p:spPr>
          <a:xfrm>
            <a:off x="714703" y="1244260"/>
            <a:ext cx="6096000" cy="26872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1481"/>
              </a:lnSpc>
            </a:pPr>
            <a:r>
              <a:rPr lang="en-US" sz="1100" b="1" dirty="0" err="1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Medición</a:t>
            </a:r>
            <a:r>
              <a:rPr lang="en-US" sz="1100" b="1" dirty="0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del </a:t>
            </a:r>
            <a:r>
              <a:rPr lang="en-US" sz="1100" b="1" dirty="0" err="1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todo</a:t>
            </a:r>
            <a:r>
              <a:rPr lang="en-US" sz="1100" b="1" dirty="0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el </a:t>
            </a:r>
            <a:r>
              <a:rPr lang="en-US" sz="1100" b="1" dirty="0" err="1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ciclo</a:t>
            </a:r>
            <a:r>
              <a:rPr lang="en-US" sz="1100" b="1" dirty="0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de </a:t>
            </a:r>
            <a:r>
              <a:rPr lang="en-US" sz="1100" b="1" dirty="0" err="1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atención</a:t>
            </a:r>
            <a:r>
              <a:rPr lang="en-US" sz="1100" b="1" dirty="0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1100" b="1" dirty="0" err="1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en</a:t>
            </a:r>
            <a:r>
              <a:rPr lang="en-US" sz="1100" b="1" dirty="0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1100" b="1" dirty="0" err="1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caja</a:t>
            </a:r>
            <a:endParaRPr lang="en-US" sz="1100" dirty="0">
              <a:solidFill>
                <a:srgbClr val="000000"/>
              </a:solidFill>
              <a:latin typeface="Aptos"/>
              <a:ea typeface="Aptos"/>
              <a:cs typeface="Aptos"/>
              <a:sym typeface="Aptos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6534003" y="1214695"/>
            <a:ext cx="6096000" cy="26872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1481"/>
              </a:lnSpc>
            </a:pPr>
            <a:r>
              <a:rPr lang="en-US" sz="1100" b="1" dirty="0" err="1" smtClean="0">
                <a:solidFill>
                  <a:srgbClr val="000000"/>
                </a:solidFill>
                <a:latin typeface="Aptos Bold"/>
                <a:ea typeface="Aptos"/>
                <a:cs typeface="Aptos"/>
                <a:sym typeface="Aptos Bold"/>
              </a:rPr>
              <a:t>Acciones</a:t>
            </a:r>
            <a:r>
              <a:rPr lang="en-US" sz="1100" b="1" dirty="0" smtClean="0">
                <a:solidFill>
                  <a:srgbClr val="000000"/>
                </a:solidFill>
                <a:latin typeface="Aptos Bold"/>
                <a:ea typeface="Aptos"/>
                <a:cs typeface="Aptos"/>
                <a:sym typeface="Aptos Bold"/>
              </a:rPr>
              <a:t> </a:t>
            </a:r>
            <a:r>
              <a:rPr lang="en-US" sz="1100" b="1" dirty="0" err="1" smtClean="0">
                <a:solidFill>
                  <a:srgbClr val="000000"/>
                </a:solidFill>
                <a:latin typeface="Aptos Bold"/>
                <a:ea typeface="Aptos"/>
                <a:cs typeface="Aptos"/>
                <a:sym typeface="Aptos Bold"/>
              </a:rPr>
              <a:t>en</a:t>
            </a:r>
            <a:r>
              <a:rPr lang="en-US" sz="1100" b="1" dirty="0" smtClean="0">
                <a:solidFill>
                  <a:srgbClr val="000000"/>
                </a:solidFill>
                <a:latin typeface="Aptos Bold"/>
                <a:ea typeface="Aptos"/>
                <a:cs typeface="Aptos"/>
                <a:sym typeface="Aptos Bold"/>
              </a:rPr>
              <a:t> </a:t>
            </a:r>
            <a:r>
              <a:rPr lang="en-US" sz="1100" b="1" dirty="0" err="1" smtClean="0">
                <a:solidFill>
                  <a:srgbClr val="000000"/>
                </a:solidFill>
                <a:latin typeface="Aptos Bold"/>
                <a:ea typeface="Aptos"/>
                <a:cs typeface="Aptos"/>
                <a:sym typeface="Aptos Bold"/>
              </a:rPr>
              <a:t>productos</a:t>
            </a:r>
            <a:r>
              <a:rPr lang="en-US" sz="1100" b="1" dirty="0" smtClean="0">
                <a:solidFill>
                  <a:srgbClr val="000000"/>
                </a:solidFill>
                <a:latin typeface="Aptos Bold"/>
                <a:ea typeface="Aptos"/>
                <a:cs typeface="Aptos"/>
                <a:sym typeface="Aptos Bold"/>
              </a:rPr>
              <a:t> de </a:t>
            </a:r>
            <a:r>
              <a:rPr lang="en-US" sz="1100" b="1" dirty="0" err="1" smtClean="0">
                <a:solidFill>
                  <a:srgbClr val="000000"/>
                </a:solidFill>
                <a:latin typeface="Aptos Bold"/>
                <a:ea typeface="Aptos"/>
                <a:cs typeface="Aptos"/>
                <a:sym typeface="Aptos Bold"/>
              </a:rPr>
              <a:t>abarrotes</a:t>
            </a:r>
            <a:r>
              <a:rPr lang="en-US" sz="1100" b="1" dirty="0" smtClean="0">
                <a:solidFill>
                  <a:srgbClr val="000000"/>
                </a:solidFill>
                <a:latin typeface="Aptos Bold"/>
                <a:ea typeface="Aptos"/>
                <a:cs typeface="Aptos"/>
                <a:sym typeface="Aptos Bold"/>
              </a:rPr>
              <a:t> con mayor </a:t>
            </a:r>
            <a:r>
              <a:rPr lang="en-US" sz="1100" b="1" dirty="0" err="1" smtClean="0">
                <a:solidFill>
                  <a:srgbClr val="000000"/>
                </a:solidFill>
                <a:latin typeface="Aptos Bold"/>
                <a:ea typeface="Aptos"/>
                <a:cs typeface="Aptos"/>
                <a:sym typeface="Aptos Bold"/>
              </a:rPr>
              <a:t>incidencia</a:t>
            </a:r>
            <a:r>
              <a:rPr lang="en-US" sz="1100" b="1" dirty="0" smtClean="0">
                <a:solidFill>
                  <a:srgbClr val="000000"/>
                </a:solidFill>
                <a:latin typeface="Aptos Bold"/>
                <a:ea typeface="Aptos"/>
                <a:cs typeface="Aptos"/>
                <a:sym typeface="Aptos Bold"/>
              </a:rPr>
              <a:t> </a:t>
            </a:r>
            <a:r>
              <a:rPr lang="en-US" sz="1100" b="1" dirty="0" err="1" smtClean="0">
                <a:solidFill>
                  <a:srgbClr val="000000"/>
                </a:solidFill>
                <a:latin typeface="Aptos Bold"/>
                <a:ea typeface="Aptos"/>
                <a:cs typeface="Aptos"/>
                <a:sym typeface="Aptos Bold"/>
              </a:rPr>
              <a:t>en</a:t>
            </a:r>
            <a:r>
              <a:rPr lang="en-US" sz="1100" b="1" dirty="0" smtClean="0">
                <a:solidFill>
                  <a:srgbClr val="000000"/>
                </a:solidFill>
                <a:latin typeface="Aptos Bold"/>
                <a:ea typeface="Aptos"/>
                <a:cs typeface="Aptos"/>
                <a:sym typeface="Aptos Bold"/>
              </a:rPr>
              <a:t> </a:t>
            </a:r>
            <a:r>
              <a:rPr lang="en-US" sz="1100" b="1" dirty="0" err="1" smtClean="0">
                <a:solidFill>
                  <a:srgbClr val="000000"/>
                </a:solidFill>
                <a:latin typeface="Aptos Bold"/>
                <a:ea typeface="Aptos"/>
                <a:cs typeface="Aptos"/>
                <a:sym typeface="Aptos Bold"/>
              </a:rPr>
              <a:t>digitación</a:t>
            </a:r>
            <a:r>
              <a:rPr lang="en-US" sz="1100" b="1" dirty="0" smtClean="0">
                <a:solidFill>
                  <a:srgbClr val="000000"/>
                </a:solidFill>
                <a:latin typeface="Aptos Bold"/>
                <a:ea typeface="Aptos"/>
                <a:cs typeface="Aptos"/>
                <a:sym typeface="Aptos Bold"/>
              </a:rPr>
              <a:t> </a:t>
            </a:r>
            <a:r>
              <a:rPr lang="en-US" sz="1100" b="1" dirty="0" err="1" smtClean="0">
                <a:solidFill>
                  <a:srgbClr val="000000"/>
                </a:solidFill>
                <a:latin typeface="Aptos Bold"/>
                <a:ea typeface="Aptos"/>
                <a:cs typeface="Aptos"/>
                <a:sym typeface="Aptos Bold"/>
              </a:rPr>
              <a:t>en</a:t>
            </a:r>
            <a:r>
              <a:rPr lang="en-US" sz="1100" b="1" dirty="0" smtClean="0">
                <a:solidFill>
                  <a:srgbClr val="000000"/>
                </a:solidFill>
                <a:latin typeface="Aptos Bold"/>
                <a:ea typeface="Aptos"/>
                <a:cs typeface="Aptos"/>
                <a:sym typeface="Aptos Bold"/>
              </a:rPr>
              <a:t> </a:t>
            </a:r>
            <a:r>
              <a:rPr lang="en-US" sz="1100" b="1" dirty="0" err="1" smtClean="0">
                <a:solidFill>
                  <a:srgbClr val="000000"/>
                </a:solidFill>
                <a:latin typeface="Aptos Bold"/>
                <a:ea typeface="Aptos"/>
                <a:cs typeface="Aptos"/>
                <a:sym typeface="Aptos Bold"/>
              </a:rPr>
              <a:t>caja</a:t>
            </a:r>
            <a:endParaRPr lang="en-US" sz="1100" dirty="0">
              <a:solidFill>
                <a:srgbClr val="000000"/>
              </a:solidFill>
              <a:latin typeface="Aptos"/>
              <a:ea typeface="Aptos"/>
              <a:cs typeface="Aptos"/>
              <a:sym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0335546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1"/>
          <p:cNvSpPr txBox="1"/>
          <p:nvPr/>
        </p:nvSpPr>
        <p:spPr>
          <a:xfrm>
            <a:off x="714703" y="667310"/>
            <a:ext cx="10487201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799"/>
              </a:lnSpc>
            </a:pPr>
            <a:r>
              <a:rPr lang="en-US" sz="2250" b="1" dirty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¿</a:t>
            </a:r>
            <a:r>
              <a:rPr lang="en-US" sz="2250" b="1" dirty="0" err="1" smtClean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Cuales</a:t>
            </a:r>
            <a:r>
              <a:rPr lang="en-US" sz="2250" b="1" dirty="0" smtClean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 son </a:t>
            </a:r>
            <a:r>
              <a:rPr lang="en-US" sz="2250" b="1" dirty="0" err="1" smtClean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nuestros</a:t>
            </a:r>
            <a:r>
              <a:rPr lang="en-US" sz="2250" b="1" dirty="0" smtClean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2250" b="1" dirty="0" err="1" smtClean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próximos</a:t>
            </a:r>
            <a:r>
              <a:rPr lang="en-US" sz="2250" b="1" dirty="0" smtClean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2250" b="1" dirty="0" err="1" smtClean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pasos</a:t>
            </a:r>
            <a:r>
              <a:rPr lang="en-US" sz="2250" b="1" dirty="0" smtClean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?</a:t>
            </a:r>
            <a:endParaRPr lang="en-US" sz="2250" b="1" dirty="0">
              <a:solidFill>
                <a:srgbClr val="E2202E"/>
              </a:solidFill>
              <a:latin typeface="Aptos Bold"/>
              <a:ea typeface="Aptos Bold"/>
              <a:cs typeface="Aptos Bold"/>
              <a:sym typeface="Aptos Bold"/>
            </a:endParaRPr>
          </a:p>
        </p:txBody>
      </p:sp>
      <p:sp>
        <p:nvSpPr>
          <p:cNvPr id="7" name="Rectángulo 6"/>
          <p:cNvSpPr/>
          <p:nvPr/>
        </p:nvSpPr>
        <p:spPr>
          <a:xfrm>
            <a:off x="0" y="0"/>
            <a:ext cx="178676" cy="6858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8" name="Rectángulo 7"/>
          <p:cNvSpPr/>
          <p:nvPr/>
        </p:nvSpPr>
        <p:spPr>
          <a:xfrm>
            <a:off x="1191536" y="1928654"/>
            <a:ext cx="9146263" cy="2846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481"/>
              </a:lnSpc>
            </a:pPr>
            <a:r>
              <a:rPr lang="en-US" sz="1100" b="1" dirty="0" smtClean="0">
                <a:solidFill>
                  <a:srgbClr val="000000"/>
                </a:solidFill>
                <a:latin typeface="Aptos Bold"/>
                <a:ea typeface="Aptos"/>
                <a:cs typeface="Aptos"/>
                <a:sym typeface="Aptos Bold"/>
              </a:rPr>
              <a:t>Planes de </a:t>
            </a:r>
            <a:r>
              <a:rPr lang="en-US" sz="1100" b="1" dirty="0" err="1" smtClean="0">
                <a:solidFill>
                  <a:srgbClr val="000000"/>
                </a:solidFill>
                <a:latin typeface="Aptos Bold"/>
                <a:ea typeface="Aptos"/>
                <a:cs typeface="Aptos"/>
                <a:sym typeface="Aptos Bold"/>
              </a:rPr>
              <a:t>acción</a:t>
            </a:r>
            <a:r>
              <a:rPr lang="en-US" sz="1100" b="1" dirty="0" smtClean="0">
                <a:solidFill>
                  <a:srgbClr val="000000"/>
                </a:solidFill>
                <a:latin typeface="Aptos Bold"/>
                <a:ea typeface="Aptos"/>
                <a:cs typeface="Aptos"/>
                <a:sym typeface="Aptos Bold"/>
              </a:rPr>
              <a:t> </a:t>
            </a:r>
            <a:r>
              <a:rPr lang="en-US" sz="1100" b="1" dirty="0">
                <a:solidFill>
                  <a:srgbClr val="000000"/>
                </a:solidFill>
                <a:latin typeface="Aptos Bold"/>
                <a:ea typeface="Aptos"/>
                <a:cs typeface="Aptos"/>
                <a:sym typeface="Aptos Bold"/>
              </a:rPr>
              <a:t> </a:t>
            </a:r>
            <a:r>
              <a:rPr lang="en-US" sz="1100" b="1" dirty="0" err="1" smtClean="0">
                <a:solidFill>
                  <a:srgbClr val="000000"/>
                </a:solidFill>
                <a:latin typeface="Aptos Bold"/>
                <a:ea typeface="Aptos"/>
                <a:cs typeface="Aptos"/>
                <a:sym typeface="Aptos Bold"/>
              </a:rPr>
              <a:t>en</a:t>
            </a:r>
            <a:r>
              <a:rPr lang="en-US" sz="1100" b="1" dirty="0" smtClean="0">
                <a:solidFill>
                  <a:srgbClr val="000000"/>
                </a:solidFill>
                <a:latin typeface="Aptos Bold"/>
                <a:ea typeface="Aptos"/>
                <a:cs typeface="Aptos"/>
                <a:sym typeface="Aptos Bold"/>
              </a:rPr>
              <a:t> </a:t>
            </a:r>
            <a:r>
              <a:rPr lang="en-US" sz="1100" b="1" dirty="0" err="1" smtClean="0">
                <a:solidFill>
                  <a:srgbClr val="000000"/>
                </a:solidFill>
                <a:latin typeface="Aptos Bold"/>
                <a:ea typeface="Aptos"/>
                <a:cs typeface="Aptos"/>
                <a:sym typeface="Aptos Bold"/>
              </a:rPr>
              <a:t>equipo</a:t>
            </a:r>
            <a:r>
              <a:rPr lang="en-US" sz="1100" b="1" dirty="0" smtClean="0">
                <a:solidFill>
                  <a:srgbClr val="000000"/>
                </a:solidFill>
                <a:latin typeface="Aptos Bold"/>
                <a:ea typeface="Aptos"/>
                <a:cs typeface="Aptos"/>
                <a:sym typeface="Aptos Bold"/>
              </a:rPr>
              <a:t> con Dream Team, </a:t>
            </a:r>
            <a:r>
              <a:rPr lang="en-US" sz="1100" b="1" dirty="0" err="1" smtClean="0">
                <a:solidFill>
                  <a:srgbClr val="000000"/>
                </a:solidFill>
                <a:latin typeface="Aptos Bold"/>
                <a:ea typeface="Aptos"/>
                <a:cs typeface="Aptos"/>
                <a:sym typeface="Aptos Bold"/>
              </a:rPr>
              <a:t>Gestión</a:t>
            </a:r>
            <a:r>
              <a:rPr lang="en-US" sz="1100" b="1" dirty="0" smtClean="0">
                <a:solidFill>
                  <a:srgbClr val="000000"/>
                </a:solidFill>
                <a:latin typeface="Aptos Bold"/>
                <a:ea typeface="Aptos"/>
                <a:cs typeface="Aptos"/>
                <a:sym typeface="Aptos Bold"/>
              </a:rPr>
              <a:t> Humana y </a:t>
            </a:r>
            <a:r>
              <a:rPr lang="en-US" sz="1100" b="1" dirty="0" err="1" smtClean="0">
                <a:solidFill>
                  <a:srgbClr val="000000"/>
                </a:solidFill>
                <a:latin typeface="Aptos Bold"/>
                <a:ea typeface="Aptos"/>
                <a:cs typeface="Aptos"/>
                <a:sym typeface="Aptos Bold"/>
              </a:rPr>
              <a:t>sistemas</a:t>
            </a:r>
            <a:r>
              <a:rPr lang="en-US" sz="1100" b="1" dirty="0" smtClean="0">
                <a:solidFill>
                  <a:srgbClr val="000000"/>
                </a:solidFill>
                <a:latin typeface="Aptos Bold"/>
                <a:ea typeface="Aptos"/>
                <a:cs typeface="Aptos"/>
                <a:sym typeface="Aptos Bold"/>
              </a:rPr>
              <a:t> para </a:t>
            </a:r>
            <a:r>
              <a:rPr lang="en-US" sz="1100" b="1" dirty="0" err="1" smtClean="0">
                <a:solidFill>
                  <a:srgbClr val="000000"/>
                </a:solidFill>
                <a:latin typeface="Aptos Bold"/>
                <a:ea typeface="Aptos"/>
                <a:cs typeface="Aptos"/>
                <a:sym typeface="Aptos Bold"/>
              </a:rPr>
              <a:t>acciones</a:t>
            </a:r>
            <a:r>
              <a:rPr lang="en-US" sz="1100" b="1" dirty="0" smtClean="0">
                <a:solidFill>
                  <a:srgbClr val="000000"/>
                </a:solidFill>
                <a:latin typeface="Aptos Bold"/>
                <a:ea typeface="Aptos"/>
                <a:cs typeface="Aptos"/>
                <a:sym typeface="Aptos Bold"/>
              </a:rPr>
              <a:t> a </a:t>
            </a:r>
            <a:r>
              <a:rPr lang="en-US" sz="1100" b="1" dirty="0" err="1" smtClean="0">
                <a:solidFill>
                  <a:srgbClr val="000000"/>
                </a:solidFill>
                <a:latin typeface="Aptos Bold"/>
                <a:ea typeface="Aptos"/>
                <a:cs typeface="Aptos"/>
                <a:sym typeface="Aptos Bold"/>
              </a:rPr>
              <a:t>principales</a:t>
            </a:r>
            <a:r>
              <a:rPr lang="en-US" sz="1100" b="1" dirty="0" smtClean="0">
                <a:solidFill>
                  <a:srgbClr val="000000"/>
                </a:solidFill>
                <a:latin typeface="Aptos Bold"/>
                <a:ea typeface="Aptos"/>
                <a:cs typeface="Aptos"/>
                <a:sym typeface="Aptos Bold"/>
              </a:rPr>
              <a:t> </a:t>
            </a:r>
            <a:r>
              <a:rPr lang="en-US" sz="1100" b="1" dirty="0" err="1" smtClean="0">
                <a:solidFill>
                  <a:srgbClr val="000000"/>
                </a:solidFill>
                <a:latin typeface="Aptos Bold"/>
                <a:ea typeface="Aptos"/>
                <a:cs typeface="Aptos"/>
                <a:sym typeface="Aptos Bold"/>
              </a:rPr>
              <a:t>factores</a:t>
            </a:r>
            <a:r>
              <a:rPr lang="en-US" sz="1100" b="1" dirty="0" smtClean="0">
                <a:solidFill>
                  <a:srgbClr val="000000"/>
                </a:solidFill>
                <a:latin typeface="Aptos Bold"/>
                <a:ea typeface="Aptos"/>
                <a:cs typeface="Aptos"/>
                <a:sym typeface="Aptos Bold"/>
              </a:rPr>
              <a:t>.</a:t>
            </a:r>
            <a:endParaRPr lang="en-US" sz="1100" dirty="0">
              <a:solidFill>
                <a:srgbClr val="000000"/>
              </a:solidFill>
              <a:latin typeface="Aptos"/>
              <a:ea typeface="Aptos"/>
              <a:cs typeface="Aptos"/>
              <a:sym typeface="Aptos"/>
            </a:endParaRPr>
          </a:p>
        </p:txBody>
      </p:sp>
      <p:sp>
        <p:nvSpPr>
          <p:cNvPr id="9" name="Rectángulo 8"/>
          <p:cNvSpPr/>
          <p:nvPr/>
        </p:nvSpPr>
        <p:spPr>
          <a:xfrm>
            <a:off x="8246533" y="963602"/>
            <a:ext cx="3491397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481"/>
              </a:lnSpc>
            </a:pPr>
            <a:r>
              <a:rPr lang="en-US" sz="1100" b="1" dirty="0" err="1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Estimación</a:t>
            </a:r>
            <a:r>
              <a:rPr lang="en-US" sz="1100" b="1" dirty="0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: </a:t>
            </a:r>
            <a:r>
              <a:rPr lang="en-US" sz="1100" b="1" dirty="0" err="1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crecimiento</a:t>
            </a:r>
            <a:r>
              <a:rPr lang="en-US" sz="1100" b="1" dirty="0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de 3 </a:t>
            </a:r>
            <a:r>
              <a:rPr lang="en-US" sz="1100" b="1" dirty="0" err="1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puntos</a:t>
            </a:r>
            <a:r>
              <a:rPr lang="en-US" sz="1100" b="1" dirty="0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1100" b="1" dirty="0" err="1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nos</a:t>
            </a:r>
            <a:r>
              <a:rPr lang="en-US" sz="1100" b="1" dirty="0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1100" b="1" dirty="0" err="1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puede</a:t>
            </a:r>
            <a:r>
              <a:rPr lang="en-US" sz="1100" b="1" dirty="0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1100" b="1" dirty="0" err="1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generar</a:t>
            </a:r>
            <a:r>
              <a:rPr lang="en-US" sz="1100" b="1" dirty="0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un </a:t>
            </a:r>
            <a:r>
              <a:rPr lang="en-US" sz="1100" b="1" dirty="0" err="1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beneficio</a:t>
            </a:r>
            <a:r>
              <a:rPr lang="en-US" sz="1100" b="1" dirty="0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de S/.1.5M</a:t>
            </a:r>
            <a:endParaRPr lang="en-US" sz="1100" dirty="0">
              <a:solidFill>
                <a:srgbClr val="000000"/>
              </a:solidFill>
              <a:latin typeface="Aptos"/>
              <a:ea typeface="Aptos"/>
              <a:cs typeface="Aptos"/>
              <a:sym typeface="Aptos"/>
            </a:endParaRPr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1536" y="2342927"/>
            <a:ext cx="9713531" cy="3735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740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8451F55413CCE40B32872F2EE2F7B17" ma:contentTypeVersion="14" ma:contentTypeDescription="Crear nuevo documento." ma:contentTypeScope="" ma:versionID="969693e52f69943e32048b02ca88382a">
  <xsd:schema xmlns:xsd="http://www.w3.org/2001/XMLSchema" xmlns:xs="http://www.w3.org/2001/XMLSchema" xmlns:p="http://schemas.microsoft.com/office/2006/metadata/properties" xmlns:ns2="8574a8e8-5383-43f9-82c2-17454492c82a" xmlns:ns3="d25c0998-d329-4608-bd73-3e8a880c0119" targetNamespace="http://schemas.microsoft.com/office/2006/metadata/properties" ma:root="true" ma:fieldsID="069909415eb877d2dc8b3adebaeaef02" ns2:_="" ns3:_="">
    <xsd:import namespace="8574a8e8-5383-43f9-82c2-17454492c82a"/>
    <xsd:import namespace="d25c0998-d329-4608-bd73-3e8a880c011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LengthInSeconds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74a8e8-5383-43f9-82c2-17454492c82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Etiquetas de imagen" ma:readOnly="false" ma:fieldId="{5cf76f15-5ced-4ddc-b409-7134ff3c332f}" ma:taxonomyMulti="true" ma:sspId="9ecfcf50-3ae4-46b1-98e5-a512559b6c2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5c0998-d329-4608-bd73-3e8a880c0119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674349b7-f6f9-4818-9607-755bdfad0d86}" ma:internalName="TaxCatchAll" ma:showField="CatchAllData" ma:web="d25c0998-d329-4608-bd73-3e8a880c011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25c0998-d329-4608-bd73-3e8a880c0119" xsi:nil="true"/>
    <lcf76f155ced4ddcb4097134ff3c332f xmlns="8574a8e8-5383-43f9-82c2-17454492c82a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1E629BD3-96B4-4531-9780-62C968931578}"/>
</file>

<file path=customXml/itemProps2.xml><?xml version="1.0" encoding="utf-8"?>
<ds:datastoreItem xmlns:ds="http://schemas.openxmlformats.org/officeDocument/2006/customXml" ds:itemID="{F0EBC4CA-A884-4640-ABEB-3ADB1F80EBCD}"/>
</file>

<file path=customXml/itemProps3.xml><?xml version="1.0" encoding="utf-8"?>
<ds:datastoreItem xmlns:ds="http://schemas.openxmlformats.org/officeDocument/2006/customXml" ds:itemID="{F4B8DF5C-0FA1-4943-AA84-6CC8DF800272}"/>
</file>

<file path=docProps/app.xml><?xml version="1.0" encoding="utf-8"?>
<Properties xmlns="http://schemas.openxmlformats.org/officeDocument/2006/extended-properties" xmlns:vt="http://schemas.openxmlformats.org/officeDocument/2006/docPropsVTypes">
  <TotalTime>208</TotalTime>
  <Words>329</Words>
  <Application>Microsoft Office PowerPoint</Application>
  <PresentationFormat>Panorámica</PresentationFormat>
  <Paragraphs>65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3" baseType="lpstr">
      <vt:lpstr>Aptos</vt:lpstr>
      <vt:lpstr>Aptos Bold</vt:lpstr>
      <vt:lpstr>Arial</vt:lpstr>
      <vt:lpstr>Arial Black</vt:lpstr>
      <vt:lpstr>Calibri</vt:lpstr>
      <vt:lpstr>Calibri Light</vt:lpstr>
      <vt:lpstr>Tema de Office</vt:lpstr>
      <vt:lpstr>   Productividad en Caja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Rosa Renteria</dc:creator>
  <cp:lastModifiedBy>Rosa Renteria</cp:lastModifiedBy>
  <cp:revision>21</cp:revision>
  <cp:lastPrinted>2026-06-02T15:25:08Z</cp:lastPrinted>
  <dcterms:created xsi:type="dcterms:W3CDTF">2026-06-02T12:04:23Z</dcterms:created>
  <dcterms:modified xsi:type="dcterms:W3CDTF">2026-06-02T15:33:02Z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0x01010018451F55413CCE40B32872F2EE2F7B17</vt:lpwstr>
  </property>
</Properties>
</file>