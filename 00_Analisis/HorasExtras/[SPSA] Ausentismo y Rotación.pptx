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6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287AC-7F8E-D92B-6B28-FD7CCCFA5151}" v="1" dt="2026-06-01T14:06:34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118AE-D5CF-4E97-AD56-B4DE0892DB5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1F613-A5DA-408D-A633-60C85C2FB0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461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2757f145f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12757f145f_18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4" name="Google Shape;334;g312757f145f_18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s-MX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213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c8f37336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c8f37336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4459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254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15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931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022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777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051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56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4798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427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664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0360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oryboard content">
  <p:cSld name="storyboar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388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1">
  <p:cSld name="Diapositiva de título 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4"/>
          <p:cNvCxnSpPr/>
          <p:nvPr/>
        </p:nvCxnSpPr>
        <p:spPr>
          <a:xfrm>
            <a:off x="560173" y="1028684"/>
            <a:ext cx="1433600" cy="0"/>
          </a:xfrm>
          <a:prstGeom prst="straightConnector1">
            <a:avLst/>
          </a:prstGeom>
          <a:noFill/>
          <a:ln w="19050" cap="flat" cmpd="sng">
            <a:solidFill>
              <a:srgbClr val="0039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461355" y="422452"/>
            <a:ext cx="6572000" cy="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9A6"/>
              </a:buClr>
              <a:buSzPts val="2700"/>
              <a:buFont typeface="Geo"/>
              <a:buNone/>
              <a:defRPr sz="3600" b="1" i="0" u="none" strike="noStrike" cap="none">
                <a:solidFill>
                  <a:srgbClr val="0039A6"/>
                </a:solidFill>
                <a:latin typeface="Geo"/>
                <a:ea typeface="Geo"/>
                <a:cs typeface="Geo"/>
                <a:sym typeface="Ge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r="52052" b="19852"/>
          <a:stretch/>
        </p:blipFill>
        <p:spPr>
          <a:xfrm>
            <a:off x="9180351" y="70051"/>
            <a:ext cx="1423199" cy="8455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/>
        </p:nvSpPr>
        <p:spPr>
          <a:xfrm>
            <a:off x="10469275" y="463651"/>
            <a:ext cx="963600" cy="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419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Powered by: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l="60313" t="51259" r="17723" b="20219"/>
          <a:stretch/>
        </p:blipFill>
        <p:spPr>
          <a:xfrm>
            <a:off x="11113001" y="489228"/>
            <a:ext cx="1070999" cy="494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97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marR="0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marR="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 r="52052" b="19852"/>
          <a:stretch/>
        </p:blipFill>
        <p:spPr>
          <a:xfrm>
            <a:off x="9180351" y="70051"/>
            <a:ext cx="1423199" cy="8455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469275" y="463651"/>
            <a:ext cx="963600" cy="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419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Powered by: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" name="Google Shape;62;p15"/>
          <p:cNvPicPr preferRelativeResize="0"/>
          <p:nvPr/>
        </p:nvPicPr>
        <p:blipFill rotWithShape="1">
          <a:blip r:embed="rId2">
            <a:alphaModFix/>
          </a:blip>
          <a:srcRect l="60313" t="51259" r="17723" b="20219"/>
          <a:stretch/>
        </p:blipFill>
        <p:spPr>
          <a:xfrm>
            <a:off x="11113001" y="489228"/>
            <a:ext cx="1070999" cy="494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771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ítulo y objetos">
  <p:cSld name="9_Título y objeto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841029" y="625767"/>
            <a:ext cx="6418800" cy="5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30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979432" y="4322907"/>
            <a:ext cx="5040000" cy="15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marL="1219170" lvl="1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828754" lvl="2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2438339" lvl="3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3047924" lvl="4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>
            <a:spLocks noGrp="1"/>
          </p:cNvSpPr>
          <p:nvPr>
            <p:ph type="pic" idx="2"/>
          </p:nvPr>
        </p:nvSpPr>
        <p:spPr>
          <a:xfrm>
            <a:off x="979432" y="1579561"/>
            <a:ext cx="5040000" cy="2520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6"/>
          <p:cNvSpPr txBox="1">
            <a:spLocks noGrp="1"/>
          </p:cNvSpPr>
          <p:nvPr>
            <p:ph type="body" idx="3"/>
          </p:nvPr>
        </p:nvSpPr>
        <p:spPr>
          <a:xfrm>
            <a:off x="6396559" y="4322907"/>
            <a:ext cx="5040000" cy="15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marL="1219170" lvl="1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828754" lvl="2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2438339" lvl="3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3047924" lvl="4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>
            <a:spLocks noGrp="1"/>
          </p:cNvSpPr>
          <p:nvPr>
            <p:ph type="pic" idx="4"/>
          </p:nvPr>
        </p:nvSpPr>
        <p:spPr>
          <a:xfrm>
            <a:off x="6396559" y="1579561"/>
            <a:ext cx="5040000" cy="2520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99250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solidFill>
          <a:srgbClr val="122FA8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53699" y="2142980"/>
            <a:ext cx="5952000" cy="2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334273" y="6102772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 b="0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pPr defTabSz="1219170">
              <a:buClr>
                <a:srgbClr val="000000"/>
              </a:buClr>
            </a:pPr>
            <a:endParaRPr lang="es-PE" kern="0">
              <a:solidFill>
                <a:srgbClr val="FFFFFF"/>
              </a:solidFill>
            </a:endParaRPr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9040813" y="611130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FFFFFF"/>
              </a:solidFill>
            </a:endParaRPr>
          </a:p>
        </p:txBody>
      </p:sp>
      <p:pic>
        <p:nvPicPr>
          <p:cNvPr id="73" name="Google Shape;7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9850" y="381569"/>
            <a:ext cx="3650677" cy="36343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9769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eño personalizado">
  <p:cSld name="2_Diseño personalizado">
    <p:bg>
      <p:bgPr>
        <a:solidFill>
          <a:srgbClr val="122FA9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774357" y="2036993"/>
            <a:ext cx="5373600" cy="2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774357" y="4171212"/>
            <a:ext cx="48012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i="0">
                <a:solidFill>
                  <a:schemeClr val="lt1"/>
                </a:solidFill>
              </a:defRPr>
            </a:lvl1pPr>
            <a:lvl2pPr marL="1219170" lvl="1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23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16545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9"/>
          <p:cNvSpPr txBox="1"/>
          <p:nvPr/>
        </p:nvSpPr>
        <p:spPr>
          <a:xfrm>
            <a:off x="4947920" y="4399280"/>
            <a:ext cx="6983869" cy="1495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 defTabSz="1219170">
              <a:lnSpc>
                <a:spcPct val="95454"/>
              </a:lnSpc>
            </a:pPr>
            <a:r>
              <a:rPr lang="es-MX" sz="4800" b="1" kern="0" err="1">
                <a:solidFill>
                  <a:srgbClr val="FFFFFF"/>
                </a:solidFill>
                <a:latin typeface="Montserrat"/>
                <a:sym typeface="Comfortaa"/>
              </a:rPr>
              <a:t>Advanced</a:t>
            </a:r>
            <a:r>
              <a:rPr lang="es-MX" sz="4800" b="1" kern="0">
                <a:solidFill>
                  <a:srgbClr val="FFFFFF"/>
                </a:solidFill>
                <a:latin typeface="Montserrat"/>
                <a:sym typeface="Comfortaa"/>
              </a:rPr>
              <a:t> </a:t>
            </a:r>
            <a:r>
              <a:rPr lang="es-MX" sz="4800" b="1" kern="0" err="1">
                <a:solidFill>
                  <a:srgbClr val="FFFFFF"/>
                </a:solidFill>
                <a:latin typeface="Montserrat"/>
                <a:sym typeface="Comfortaa"/>
              </a:rPr>
              <a:t>Analytics</a:t>
            </a:r>
            <a:endParaRPr lang="es-ES" err="1"/>
          </a:p>
          <a:p>
            <a:pPr algn="ctr" defTabSz="1219170">
              <a:lnSpc>
                <a:spcPct val="95454"/>
              </a:lnSpc>
              <a:buSzPts val="5000"/>
            </a:pPr>
            <a:r>
              <a:rPr lang="es-MX" sz="4800" b="1" kern="0">
                <a:solidFill>
                  <a:srgbClr val="FFFFFF"/>
                </a:solidFill>
                <a:latin typeface="Montserrat"/>
                <a:ea typeface="Comfortaa"/>
                <a:cs typeface="Comfortaa"/>
              </a:rPr>
              <a:t>Mayo 2026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868" y="248876"/>
            <a:ext cx="1525140" cy="61070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82" y="304708"/>
            <a:ext cx="1817773" cy="60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71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7"/>
          <p:cNvSpPr/>
          <p:nvPr/>
        </p:nvSpPr>
        <p:spPr>
          <a:xfrm>
            <a:off x="2113067" y="514139"/>
            <a:ext cx="6742174" cy="48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/>
            <a:r>
              <a:rPr lang="es-419" sz="1400" b="1" kern="0" dirty="0">
                <a:solidFill>
                  <a:srgbClr val="FFFFFF"/>
                </a:solidFill>
                <a:latin typeface="Montserrat"/>
                <a:sym typeface="Montserrat"/>
              </a:rPr>
              <a:t>Ausentismo y Rotación</a:t>
            </a:r>
            <a:endParaRPr lang="es-ES" dirty="0"/>
          </a:p>
        </p:txBody>
      </p:sp>
      <p:sp>
        <p:nvSpPr>
          <p:cNvPr id="895" name="Google Shape;895;p67"/>
          <p:cNvSpPr/>
          <p:nvPr/>
        </p:nvSpPr>
        <p:spPr>
          <a:xfrm>
            <a:off x="391500" y="1100937"/>
            <a:ext cx="1065600" cy="4872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97" name="Google Shape;897;p67"/>
          <p:cNvSpPr/>
          <p:nvPr/>
        </p:nvSpPr>
        <p:spPr>
          <a:xfrm>
            <a:off x="1619176" y="1100937"/>
            <a:ext cx="7236356" cy="4872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MX" sz="1100" b="1" kern="0" dirty="0">
                <a:solidFill>
                  <a:srgbClr val="000000"/>
                </a:solidFill>
                <a:cs typeface="Arial"/>
                <a:sym typeface="Arial"/>
              </a:rPr>
              <a:t>Disminuir el índice de rotación voluntaria y el ausentismo del personal de cajas a nivel nacional, mediante la identificación del perfil óptimo del colaborador y la implementación de analítica predictiva.</a:t>
            </a:r>
            <a:endParaRPr sz="11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99" name="Google Shape;899;p67"/>
          <p:cNvSpPr/>
          <p:nvPr/>
        </p:nvSpPr>
        <p:spPr>
          <a:xfrm>
            <a:off x="9038747" y="2682501"/>
            <a:ext cx="1504400" cy="944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00" name="Google Shape;900;p67"/>
          <p:cNvSpPr txBox="1"/>
          <p:nvPr/>
        </p:nvSpPr>
        <p:spPr>
          <a:xfrm>
            <a:off x="10460000" y="2866513"/>
            <a:ext cx="1732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  <a:buSzPts val="6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+5% productividad de cajas</a:t>
            </a:r>
            <a:endParaRPr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67"/>
          <p:cNvSpPr txBox="1"/>
          <p:nvPr/>
        </p:nvSpPr>
        <p:spPr>
          <a:xfrm>
            <a:off x="9038747" y="2380329"/>
            <a:ext cx="2188000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200" kern="0" dirty="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Objetivo estratégico 2:</a:t>
            </a:r>
            <a:endParaRPr sz="1200" kern="0" dirty="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2" name="Google Shape;902;p67"/>
          <p:cNvSpPr txBox="1"/>
          <p:nvPr/>
        </p:nvSpPr>
        <p:spPr>
          <a:xfrm>
            <a:off x="328667" y="583261"/>
            <a:ext cx="1784400" cy="3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  <a:buSzPts val="1100"/>
            </a:pPr>
            <a:r>
              <a:rPr lang="es-419" sz="2133" kern="0" dirty="0">
                <a:solidFill>
                  <a:srgbClr val="122FA8"/>
                </a:solidFill>
                <a:latin typeface="Montserrat"/>
                <a:ea typeface="Montserrat"/>
                <a:cs typeface="Montserrat"/>
                <a:sym typeface="Montserrat"/>
              </a:rPr>
              <a:t>Proyecto </a:t>
            </a:r>
            <a:r>
              <a:rPr lang="es-419" sz="2133" kern="0" dirty="0" smtClean="0">
                <a:solidFill>
                  <a:srgbClr val="122FA8"/>
                </a:solidFill>
                <a:latin typeface="Montserrat"/>
                <a:ea typeface="Montserrat"/>
                <a:cs typeface="Montserrat"/>
                <a:sym typeface="Montserrat"/>
              </a:rPr>
              <a:t>2:</a:t>
            </a:r>
            <a:endParaRPr sz="2133" kern="0" dirty="0">
              <a:solidFill>
                <a:srgbClr val="122F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3" name="Google Shape;903;p67"/>
          <p:cNvSpPr/>
          <p:nvPr/>
        </p:nvSpPr>
        <p:spPr>
          <a:xfrm>
            <a:off x="9038747" y="1362029"/>
            <a:ext cx="1504400" cy="944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3F3F3F"/>
              </a:buClr>
              <a:buSzPts val="700"/>
            </a:pPr>
            <a:endParaRPr sz="1867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05" name="Google Shape;905;p67"/>
          <p:cNvSpPr txBox="1"/>
          <p:nvPr/>
        </p:nvSpPr>
        <p:spPr>
          <a:xfrm>
            <a:off x="9038747" y="1059857"/>
            <a:ext cx="2188000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200" kern="0" dirty="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Objetivo estratégico 1:</a:t>
            </a:r>
            <a:endParaRPr sz="1200" kern="0" dirty="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9" name="Google Shape;909;p67"/>
          <p:cNvSpPr/>
          <p:nvPr/>
        </p:nvSpPr>
        <p:spPr>
          <a:xfrm>
            <a:off x="8936804" y="5181600"/>
            <a:ext cx="3107066" cy="149564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100" b="1" kern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Valoración anual (margen</a:t>
            </a:r>
            <a:r>
              <a:rPr lang="es-419" sz="1100" b="1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):</a:t>
            </a:r>
          </a:p>
          <a:p>
            <a:pPr defTabSz="1219170">
              <a:buClr>
                <a:srgbClr val="000000"/>
              </a:buClr>
            </a:pPr>
            <a:endParaRPr sz="1100" b="1" kern="0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defTabSz="1219170">
              <a:buClr>
                <a:srgbClr val="000000"/>
              </a:buClr>
            </a:pPr>
            <a:r>
              <a:rPr lang="es-MX" sz="1100" kern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Costo de Reclutamiento y </a:t>
            </a:r>
            <a:r>
              <a:rPr lang="es-MX" sz="1100" kern="0" dirty="0" err="1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Onboarding</a:t>
            </a:r>
            <a:r>
              <a:rPr lang="es-MX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defTabSz="1219170">
              <a:buClr>
                <a:srgbClr val="000000"/>
              </a:buClr>
            </a:pPr>
            <a:r>
              <a:rPr lang="es-MX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-MX" sz="1100" kern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 0.5 MM </a:t>
            </a:r>
            <a:r>
              <a:rPr lang="es-MX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anuales </a:t>
            </a:r>
            <a:r>
              <a:rPr lang="es-PE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(10% ausentismo 2025).</a:t>
            </a:r>
          </a:p>
          <a:p>
            <a:pPr defTabSz="1219170">
              <a:buClr>
                <a:srgbClr val="000000"/>
              </a:buClr>
            </a:pPr>
            <a:r>
              <a:rPr lang="es-PE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 Costos por curva de aprendizaje y productividad*</a:t>
            </a:r>
            <a:endParaRPr sz="1100" kern="0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0" name="Google Shape;910;p67"/>
          <p:cNvSpPr/>
          <p:nvPr/>
        </p:nvSpPr>
        <p:spPr>
          <a:xfrm>
            <a:off x="379400" y="1637237"/>
            <a:ext cx="1065600" cy="22321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Acciones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11" name="Google Shape;911;p67"/>
          <p:cNvSpPr/>
          <p:nvPr/>
        </p:nvSpPr>
        <p:spPr>
          <a:xfrm>
            <a:off x="1615466" y="1637237"/>
            <a:ext cx="7227675" cy="22321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Modelar el perfil de deserción: Analizar y contrastar cuantitativamente las características del colaborador cesante (rotación voluntaria) frente al colaborador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activo.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Analizar la serie histórica: Evaluar la rotación desde 2024 para identificar patrones estacionales, tendencias macro y comportamientos cíclicos del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ausentismo.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Análisis Multivariado y 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Correlacional: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Evaluar el impacto del clima laboral por tienda, el estilo de liderazgo de las jefaturas y los hallazgos cualitativos de las entrevistas de salida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Correlacionar la rotación con la asignación de turnos (rangos horarios), la frecuencia de edición de mallas (cambios de horario), las horas extras acumuladas, el nivel de exigencia y el porcentaje de cobertura de dotación por tienda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Medir el efecto del proceso de inducción, las capacitaciones continuas y la línea de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carrera.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Medir el tiempo de permanencia en la empresa del colaborador como variable predictiva.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Analizar el impacto de factores generacionales (edad), variables geográficas (distancia hogar-tienda), modalidad de contrato y el grado de instrucción o ciclo de carrera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actual.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Evaluar e integrar el modelo predictivo actual del equipo de Selección (HR </a:t>
            </a:r>
            <a:r>
              <a:rPr lang="es-MX" sz="1000" kern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cajas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Medir el efecto del ausentismo y rotación en la productividad y NPS.</a:t>
            </a:r>
            <a:endParaRPr lang="es-PE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n 1" descr="Super Food Holding - Presente">
            <a:extLst>
              <a:ext uri="{FF2B5EF4-FFF2-40B4-BE49-F238E27FC236}">
                <a16:creationId xmlns:a16="http://schemas.microsoft.com/office/drawing/2014/main" id="{96993BDA-F981-E20D-2440-28F5F2577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257" y="449696"/>
            <a:ext cx="1783715" cy="481965"/>
          </a:xfrm>
          <a:prstGeom prst="rect">
            <a:avLst/>
          </a:prstGeom>
        </p:spPr>
      </p:pic>
      <p:sp>
        <p:nvSpPr>
          <p:cNvPr id="26" name="Google Shape;901;p67"/>
          <p:cNvSpPr txBox="1"/>
          <p:nvPr/>
        </p:nvSpPr>
        <p:spPr>
          <a:xfrm>
            <a:off x="9055944" y="3783531"/>
            <a:ext cx="2188000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200" kern="0" dirty="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Objetivo estratégico 3:</a:t>
            </a:r>
            <a:endParaRPr sz="1200" kern="0" dirty="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0581915" y="1585663"/>
            <a:ext cx="1324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 smtClean="0"/>
              <a:t>Disminuir en 10% la rotación</a:t>
            </a:r>
            <a:endParaRPr lang="es-PE" sz="1000" dirty="0"/>
          </a:p>
        </p:txBody>
      </p:sp>
      <p:sp>
        <p:nvSpPr>
          <p:cNvPr id="28" name="CuadroTexto 27"/>
          <p:cNvSpPr txBox="1"/>
          <p:nvPr/>
        </p:nvSpPr>
        <p:spPr>
          <a:xfrm>
            <a:off x="9135943" y="1551908"/>
            <a:ext cx="1324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b="1" dirty="0" smtClean="0">
                <a:solidFill>
                  <a:schemeClr val="bg1"/>
                </a:solidFill>
              </a:rPr>
              <a:t>Disminuir el ausentismo y rotación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135943" y="2927488"/>
            <a:ext cx="1324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MX" sz="10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Aumentar la productividad</a:t>
            </a:r>
            <a:endParaRPr lang="es-MX" sz="1000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30" name="Google Shape;899;p67"/>
          <p:cNvSpPr/>
          <p:nvPr/>
        </p:nvSpPr>
        <p:spPr>
          <a:xfrm>
            <a:off x="9087035" y="4105147"/>
            <a:ext cx="1504400" cy="944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MX" sz="10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Mejorar el NPS en las tiendas con </a:t>
            </a:r>
            <a:r>
              <a:rPr lang="es-MX" sz="1000" b="1" kern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mejor servicio.</a:t>
            </a:r>
            <a:endParaRPr sz="10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0591435" y="4298447"/>
            <a:ext cx="15193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  <a:buSzPts val="6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+5 puntos netos en NPS en las tiendas intervenidas</a:t>
            </a: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896;p67"/>
          <p:cNvSpPr/>
          <p:nvPr/>
        </p:nvSpPr>
        <p:spPr>
          <a:xfrm>
            <a:off x="379400" y="3899175"/>
            <a:ext cx="1065600" cy="7119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Indicadores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98;p67"/>
          <p:cNvSpPr/>
          <p:nvPr/>
        </p:nvSpPr>
        <p:spPr>
          <a:xfrm>
            <a:off x="1603366" y="3899175"/>
            <a:ext cx="7227675" cy="7119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Índice de Rotación Voluntaria Mensual</a:t>
            </a:r>
          </a:p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Índice de Ausentismo Operativo</a:t>
            </a:r>
            <a:endParaRPr lang="es-MX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Tiempo de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Permanencia del colaborador</a:t>
            </a:r>
          </a:p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Índice de Adherencia a la Línea de Carrera</a:t>
            </a: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896;p67"/>
          <p:cNvSpPr/>
          <p:nvPr/>
        </p:nvSpPr>
        <p:spPr>
          <a:xfrm>
            <a:off x="379400" y="4650569"/>
            <a:ext cx="1065600" cy="485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Producto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914;p67"/>
          <p:cNvSpPr/>
          <p:nvPr/>
        </p:nvSpPr>
        <p:spPr>
          <a:xfrm>
            <a:off x="1594967" y="4650568"/>
            <a:ext cx="7236356" cy="48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endParaRPr lang="es-MX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presentación analítico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s-MX" sz="1000" kern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Insights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Correlaciones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análisis entre perfil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optimo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vs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perfil actual</a:t>
            </a:r>
            <a:endParaRPr lang="es-MX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907;p67"/>
          <p:cNvSpPr/>
          <p:nvPr/>
        </p:nvSpPr>
        <p:spPr>
          <a:xfrm>
            <a:off x="379400" y="5184837"/>
            <a:ext cx="1065600" cy="9859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Alcance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908;p67"/>
          <p:cNvSpPr/>
          <p:nvPr/>
        </p:nvSpPr>
        <p:spPr>
          <a:xfrm>
            <a:off x="1594967" y="5201094"/>
            <a:ext cx="7236074" cy="9696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Rol colaborador: Caja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Rotación de tipo Voluntaria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Disponibilidad data histórica desd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2024.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Fase 01: </a:t>
            </a:r>
            <a:r>
              <a:rPr lang="es-PE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lang="es-PE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las correlaciones y tendencias.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Fase 02: Modelo predictivo del perfil colaborador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Fase 03: Validación del modelo.</a:t>
            </a:r>
          </a:p>
        </p:txBody>
      </p:sp>
      <p:sp>
        <p:nvSpPr>
          <p:cNvPr id="38" name="Google Shape;913;p67"/>
          <p:cNvSpPr/>
          <p:nvPr/>
        </p:nvSpPr>
        <p:spPr>
          <a:xfrm>
            <a:off x="381875" y="6219806"/>
            <a:ext cx="1065600" cy="485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Dependencias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" name="Google Shape;915;p67"/>
          <p:cNvSpPr/>
          <p:nvPr/>
        </p:nvSpPr>
        <p:spPr>
          <a:xfrm>
            <a:off x="1619165" y="6219806"/>
            <a:ext cx="7211875" cy="4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endParaRPr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Rectángulo 39"/>
          <p:cNvSpPr/>
          <p:nvPr/>
        </p:nvSpPr>
        <p:spPr>
          <a:xfrm>
            <a:off x="1615466" y="6227876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Acceso a data histórica en GCP.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Acceso a </a:t>
            </a:r>
            <a:r>
              <a:rPr lang="es-MX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sharepoint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archivos </a:t>
            </a:r>
            <a:r>
              <a:rPr lang="es-MX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1397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8451F55413CCE40B32872F2EE2F7B17" ma:contentTypeVersion="14" ma:contentTypeDescription="Crear nuevo documento." ma:contentTypeScope="" ma:versionID="969693e52f69943e32048b02ca88382a">
  <xsd:schema xmlns:xsd="http://www.w3.org/2001/XMLSchema" xmlns:xs="http://www.w3.org/2001/XMLSchema" xmlns:p="http://schemas.microsoft.com/office/2006/metadata/properties" xmlns:ns2="8574a8e8-5383-43f9-82c2-17454492c82a" xmlns:ns3="d25c0998-d329-4608-bd73-3e8a880c0119" targetNamespace="http://schemas.microsoft.com/office/2006/metadata/properties" ma:root="true" ma:fieldsID="069909415eb877d2dc8b3adebaeaef02" ns2:_="" ns3:_="">
    <xsd:import namespace="8574a8e8-5383-43f9-82c2-17454492c82a"/>
    <xsd:import namespace="d25c0998-d329-4608-bd73-3e8a880c01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74a8e8-5383-43f9-82c2-17454492c8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9ecfcf50-3ae4-46b1-98e5-a512559b6c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c0998-d329-4608-bd73-3e8a880c011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74349b7-f6f9-4818-9607-755bdfad0d86}" ma:internalName="TaxCatchAll" ma:showField="CatchAllData" ma:web="d25c0998-d329-4608-bd73-3e8a880c01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74a8e8-5383-43f9-82c2-17454492c82a">
      <Terms xmlns="http://schemas.microsoft.com/office/infopath/2007/PartnerControls"/>
    </lcf76f155ced4ddcb4097134ff3c332f>
    <TaxCatchAll xmlns="d25c0998-d329-4608-bd73-3e8a880c011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25D849-BB8F-4434-AEA9-5ADB91C9FEB8}"/>
</file>

<file path=customXml/itemProps2.xml><?xml version="1.0" encoding="utf-8"?>
<ds:datastoreItem xmlns:ds="http://schemas.openxmlformats.org/officeDocument/2006/customXml" ds:itemID="{4D7BD650-E7DD-49A6-BBDC-F9AA3A047D15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80552416-44e0-4a04-af47-76b16d2fbd4a"/>
    <ds:schemaRef ds:uri="http://schemas.microsoft.com/office/2006/metadata/properties"/>
    <ds:schemaRef ds:uri="http://purl.org/dc/dcmitype/"/>
    <ds:schemaRef ds:uri="http://schemas.microsoft.com/office/infopath/2007/PartnerControls"/>
    <ds:schemaRef ds:uri="0b545d44-96d5-42ca-b29a-703cc1f2466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17E931-2325-4368-9446-DF0439F118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437</Words>
  <Application>Microsoft Office PowerPoint</Application>
  <PresentationFormat>Panorámica</PresentationFormat>
  <Paragraphs>50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Arial</vt:lpstr>
      <vt:lpstr>Calibri</vt:lpstr>
      <vt:lpstr>Century Gothic</vt:lpstr>
      <vt:lpstr>Comfortaa</vt:lpstr>
      <vt:lpstr>Geo</vt:lpstr>
      <vt:lpstr>Lato</vt:lpstr>
      <vt:lpstr>Montserrat</vt:lpstr>
      <vt:lpstr>Times New Roman</vt:lpstr>
      <vt:lpstr>Verdana</vt:lpstr>
      <vt:lpstr>Simple Light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Claudia Villalba</dc:creator>
  <cp:lastModifiedBy>Enrique Paredes</cp:lastModifiedBy>
  <cp:revision>14</cp:revision>
  <dcterms:created xsi:type="dcterms:W3CDTF">2025-03-17T19:17:56Z</dcterms:created>
  <dcterms:modified xsi:type="dcterms:W3CDTF">2026-06-02T16:56:53Z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0x01010018451F55413CCE40B32872F2EE2F7B17</vt:lpwstr>
  </property>
  <property fmtid="{D5CDD505-2E9C-101B-9397-08002B2CF9AE}" pid="3" name="MediaServiceImageTags">
    <vt:lpwstr/>
  </property>
</Properties>
</file>